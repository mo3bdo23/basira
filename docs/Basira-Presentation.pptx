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01168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" name="Picture 3" descr="app_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840" y="685800"/>
            <a:ext cx="1234440" cy="123444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22960" y="1554480"/>
            <a:ext cx="8686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000" b="0">
                <a:solidFill>
                  <a:srgbClr val="CFE9D9"/>
                </a:solidFill>
                <a:latin typeface="Segoe UI"/>
              </a:rPr>
              <a:t>تطبيق تنقّل صوتي لذوي الإعاقة البصرية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86868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8400" b="1">
                <a:solidFill>
                  <a:srgbClr val="FFFFFF"/>
                </a:solidFill>
                <a:latin typeface="Segoe UI"/>
              </a:rPr>
              <a:t>بصيرة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86868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000" b="1">
                <a:solidFill>
                  <a:srgbClr val="F5A524"/>
                </a:solidFill>
                <a:latin typeface="Segoe UI"/>
              </a:rPr>
              <a:t>طريقك الآمن.. بصوتك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343400"/>
            <a:ext cx="96012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40000"/>
              </a:lnSpc>
            </a:pPr>
            <a:r>
              <a:rPr sz="1800" b="0">
                <a:solidFill>
                  <a:srgbClr val="E8F5EE"/>
                </a:solidFill>
                <a:latin typeface="Segoe UI"/>
              </a:rPr>
              <a:t>إرشاد صوتي لحظي · مسارات آمنة · تنبيه إشارات المرور · خرائط جامعات · زر استغاثة</a:t>
            </a:r>
          </a:p>
          <a:p>
            <a:pPr algn="r" rtl="1">
              <a:lnSpc>
                <a:spcPct val="140000"/>
              </a:lnSpc>
            </a:pPr>
            <a:r>
              <a:rPr sz="1800" b="0">
                <a:solidFill>
                  <a:srgbClr val="E8F5EE"/>
                </a:solidFill>
                <a:latin typeface="Segoe UI"/>
              </a:rPr>
              <a:t>يعمل بالكامل بدون إنترنت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589788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500" b="0">
                <a:solidFill>
                  <a:srgbClr val="A5C9B4"/>
                </a:solidFill>
                <a:latin typeface="Segoe UI"/>
              </a:rPr>
              <a:t>github.com/mo3bdo23/basira   ·   MIT License   ·   Flutter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400" b="1">
                <a:solidFill>
                  <a:srgbClr val="F5A524"/>
                </a:solidFill>
                <a:latin typeface="Segoe UI"/>
              </a:rPr>
              <a:t>لماذا نبني بصيرة؟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400" b="1">
                <a:solidFill>
                  <a:srgbClr val="101613"/>
                </a:solidFill>
                <a:latin typeface="Segoe UI"/>
              </a:rPr>
              <a:t>المشكلة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88575" y="1600200"/>
            <a:ext cx="1463040" cy="54864"/>
          </a:xfrm>
          <a:prstGeom prst="rect">
            <a:avLst/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6949440" cy="1051560"/>
          </a:xfrm>
          <a:prstGeom prst="roundRect">
            <a:avLst>
              <a:gd name="adj" fmla="val 12000"/>
            </a:avLst>
          </a:prstGeom>
          <a:solidFill>
            <a:srgbClr val="F4F7F5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ctangle 6"/>
          <p:cNvSpPr/>
          <p:nvPr/>
        </p:nvSpPr>
        <p:spPr>
          <a:xfrm>
            <a:off x="6949440" y="1965960"/>
            <a:ext cx="82296" cy="105156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78040" y="2075688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2600" b="1">
                <a:solidFill>
                  <a:srgbClr val="0B6B3A"/>
                </a:solidFill>
                <a:latin typeface="Segoe U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207568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100" b="1">
                <a:solidFill>
                  <a:srgbClr val="101613"/>
                </a:solidFill>
                <a:latin typeface="Segoe UI"/>
              </a:rPr>
              <a:t>غياب الإرشاد الصوتي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2496312"/>
            <a:ext cx="5852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500" b="0">
                <a:solidFill>
                  <a:srgbClr val="5B6B63"/>
                </a:solidFill>
                <a:latin typeface="Segoe UI"/>
              </a:rPr>
              <a:t>المكفوف يعتمد على سؤال المارة أو على مرافق دائم للتنقل.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200400"/>
            <a:ext cx="6949440" cy="1051560"/>
          </a:xfrm>
          <a:prstGeom prst="roundRect">
            <a:avLst>
              <a:gd name="adj" fmla="val 12000"/>
            </a:avLst>
          </a:prstGeom>
          <a:solidFill>
            <a:srgbClr val="F4F7F5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6949440" y="3200400"/>
            <a:ext cx="82296" cy="105156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7178040" y="3310128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2600" b="1">
                <a:solidFill>
                  <a:srgbClr val="0B6B3A"/>
                </a:solidFill>
                <a:latin typeface="Sego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31012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100" b="1">
                <a:solidFill>
                  <a:srgbClr val="101613"/>
                </a:solidFill>
                <a:latin typeface="Segoe UI"/>
              </a:rPr>
              <a:t>مسارات غير آمنة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3730752"/>
            <a:ext cx="5852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500" b="0">
                <a:solidFill>
                  <a:srgbClr val="5B6B63"/>
                </a:solidFill>
                <a:latin typeface="Segoe UI"/>
              </a:rPr>
              <a:t>أرصفة مكسورة، حفر، وأعمال بناء بلا توثيق أو تحذير مسبق.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434840"/>
            <a:ext cx="6949440" cy="1051560"/>
          </a:xfrm>
          <a:prstGeom prst="roundRect">
            <a:avLst>
              <a:gd name="adj" fmla="val 12000"/>
            </a:avLst>
          </a:prstGeom>
          <a:solidFill>
            <a:srgbClr val="F4F7F5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6949440" y="4434840"/>
            <a:ext cx="82296" cy="1051560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7178040" y="4544568"/>
            <a:ext cx="457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rtl="1">
              <a:lnSpc>
                <a:spcPct val="115000"/>
              </a:lnSpc>
            </a:pPr>
            <a:r>
              <a:rPr sz="2600" b="1">
                <a:solidFill>
                  <a:srgbClr val="0B6B3A"/>
                </a:solidFill>
                <a:latin typeface="Segoe UI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54456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100" b="1">
                <a:solidFill>
                  <a:srgbClr val="101613"/>
                </a:solidFill>
                <a:latin typeface="Segoe UI"/>
              </a:rPr>
              <a:t>إشارات بلا صوت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" y="4965192"/>
            <a:ext cx="58521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500" b="0">
                <a:solidFill>
                  <a:srgbClr val="5B6B63"/>
                </a:solidFill>
                <a:latin typeface="Segoe UI"/>
              </a:rPr>
              <a:t>عبور الطرق يعتمد على التخمين أو على مساعدة الآخرين.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863840" y="1965960"/>
            <a:ext cx="3657600" cy="3703320"/>
          </a:xfrm>
          <a:prstGeom prst="roundRect">
            <a:avLst>
              <a:gd name="adj" fmla="val 8000"/>
            </a:avLst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138160" y="2240280"/>
            <a:ext cx="31089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200" b="1">
                <a:solidFill>
                  <a:srgbClr val="F5A524"/>
                </a:solidFill>
                <a:latin typeface="Segoe UI"/>
              </a:rPr>
              <a:t>النتيجة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38160" y="2788920"/>
            <a:ext cx="310896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Segoe UI"/>
              </a:rPr>
              <a:t>فقدان الاستقلالية</a:t>
            </a:r>
          </a:p>
          <a:p>
            <a:pPr algn="r" rtl="1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r" rtl="1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Segoe UI"/>
              </a:rPr>
              <a:t>تقليل الحضور</a:t>
            </a:r>
          </a:p>
          <a:p>
            <a:pPr algn="r" rtl="1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Segoe UI"/>
              </a:rPr>
              <a:t/>
            </a:r>
          </a:p>
          <a:p>
            <a:pPr algn="r" rtl="1">
              <a:lnSpc>
                <a:spcPct val="150000"/>
              </a:lnSpc>
            </a:pPr>
            <a:r>
              <a:rPr sz="2000" b="0">
                <a:solidFill>
                  <a:srgbClr val="FFFFFF"/>
                </a:solidFill>
                <a:latin typeface="Segoe UI"/>
              </a:rPr>
              <a:t>قلق دائم للطالب وأسرته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600" b="1">
                <a:solidFill>
                  <a:srgbClr val="0B6B3A"/>
                </a:solidFill>
                <a:latin typeface="Segoe UI"/>
              </a:rPr>
              <a:t>الحل يجب أن يكون صوتيًا بالكامل، ويعمل بلا إنترنت، ومصمّمًا لمصر.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400" b="1">
                <a:solidFill>
                  <a:srgbClr val="F5A524"/>
                </a:solidFill>
                <a:latin typeface="Segoe UI"/>
              </a:rPr>
              <a:t>عصا بيضاء رقمية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400" b="1">
                <a:solidFill>
                  <a:srgbClr val="101613"/>
                </a:solidFill>
                <a:latin typeface="Segoe UI"/>
              </a:rPr>
              <a:t>الحل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88575" y="1600200"/>
            <a:ext cx="1463040" cy="54864"/>
          </a:xfrm>
          <a:prstGeom prst="rect">
            <a:avLst/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40080" y="1874519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40000"/>
              </a:lnSpc>
            </a:pPr>
            <a:r>
              <a:rPr sz="2000" b="0">
                <a:solidFill>
                  <a:srgbClr val="5B6B63"/>
                </a:solidFill>
                <a:latin typeface="Segoe UI"/>
              </a:rPr>
              <a:t>تطبيق يسمعك، يرشدك خطوة بخطوة، يحذّرك من الإشارات والعوائق،</a:t>
            </a:r>
          </a:p>
          <a:p>
            <a:pPr algn="r" rtl="1">
              <a:lnSpc>
                <a:spcPct val="140000"/>
              </a:lnSpc>
            </a:pPr>
            <a:r>
              <a:rPr sz="2000" b="0">
                <a:solidFill>
                  <a:srgbClr val="5B6B63"/>
                </a:solidFill>
                <a:latin typeface="Segoe UI"/>
              </a:rPr>
              <a:t>ويطلب المساعدة عنك — بدون لمس الشاشة وبدون إنترنت.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063240"/>
            <a:ext cx="1417320" cy="960120"/>
          </a:xfrm>
          <a:prstGeom prst="roundRect">
            <a:avLst>
              <a:gd name="adj" fmla="val 15000"/>
            </a:avLst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713232" y="3310128"/>
            <a:ext cx="127101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Splash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084832" y="3291840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2000" b="0">
                <a:solidFill>
                  <a:srgbClr val="5B6B63"/>
                </a:solidFill>
                <a:latin typeface="Segoe UI"/>
              </a:rPr>
              <a:t>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404872" y="3063240"/>
            <a:ext cx="2011680" cy="960120"/>
          </a:xfrm>
          <a:prstGeom prst="roundRect">
            <a:avLst>
              <a:gd name="adj" fmla="val 15000"/>
            </a:avLst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2478024" y="3310128"/>
            <a:ext cx="186537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إخلاء المسؤولية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43984" y="3291840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2000" b="0">
                <a:solidFill>
                  <a:srgbClr val="5B6B63"/>
                </a:solidFill>
                <a:latin typeface="Segoe UI"/>
              </a:rPr>
              <a:t>←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764024" y="3063240"/>
            <a:ext cx="1783080" cy="960120"/>
          </a:xfrm>
          <a:prstGeom prst="roundRect">
            <a:avLst>
              <a:gd name="adj" fmla="val 15000"/>
            </a:avLst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4837176" y="3310128"/>
            <a:ext cx="163677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تدريب صوتي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74536" y="3291840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2000" b="0">
                <a:solidFill>
                  <a:srgbClr val="5B6B63"/>
                </a:solidFill>
                <a:latin typeface="Segoe UI"/>
              </a:rPr>
              <a:t>←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94576" y="3063240"/>
            <a:ext cx="1463040" cy="960120"/>
          </a:xfrm>
          <a:prstGeom prst="roundRect">
            <a:avLst>
              <a:gd name="adj" fmla="val 15000"/>
            </a:avLst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967728" y="3310128"/>
            <a:ext cx="131673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الرئيسية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5048" y="3291840"/>
            <a:ext cx="320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2000" b="0">
                <a:solidFill>
                  <a:srgbClr val="5B6B63"/>
                </a:solidFill>
                <a:latin typeface="Segoe UI"/>
              </a:rPr>
              <a:t>←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705088" y="3063240"/>
            <a:ext cx="3108960" cy="960120"/>
          </a:xfrm>
          <a:prstGeom prst="roundRect">
            <a:avLst>
              <a:gd name="adj" fmla="val 15000"/>
            </a:avLst>
          </a:prstGeom>
          <a:solidFill>
            <a:srgbClr val="06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8778240" y="3310128"/>
            <a:ext cx="2962656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Segoe UI"/>
              </a:rPr>
              <a:t>تنقّل · بلاغ · خريطة · SOS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526280"/>
            <a:ext cx="1097280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50000"/>
              </a:lnSpc>
            </a:pPr>
            <a:r>
              <a:rPr sz="1700" b="0">
                <a:solidFill>
                  <a:srgbClr val="101613"/>
                </a:solidFill>
                <a:latin typeface="Segoe UI"/>
              </a:rPr>
              <a:t>سبع شاشات، كلها مصمّمة لتُستخدم بالسمع فقط:</a:t>
            </a:r>
          </a:p>
          <a:p>
            <a:pPr algn="r" rtl="1">
              <a:lnSpc>
                <a:spcPct val="150000"/>
              </a:lnSpc>
            </a:pPr>
            <a:r>
              <a:rPr sz="1700" b="0">
                <a:solidFill>
                  <a:srgbClr val="101613"/>
                </a:solidFill>
                <a:latin typeface="Segoe UI"/>
              </a:rPr>
              <a:t>كل شاشة تُعلن نفسها، وكل إجراء له تأكيد منطوق، ولكل أمر صوتي زر بديل.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400" b="1">
                <a:solidFill>
                  <a:srgbClr val="F5A524"/>
                </a:solidFill>
                <a:latin typeface="Segoe UI"/>
              </a:rPr>
              <a:t>ما الذي يجعله مختلفًا؟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400" b="1">
                <a:solidFill>
                  <a:srgbClr val="101613"/>
                </a:solidFill>
                <a:latin typeface="Segoe UI"/>
              </a:rPr>
              <a:t>الميزات الأساسية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88575" y="1600200"/>
            <a:ext cx="1463040" cy="54864"/>
          </a:xfrm>
          <a:prstGeom prst="rect">
            <a:avLst/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3611880" cy="1691640"/>
          </a:xfrm>
          <a:prstGeom prst="roundRect">
            <a:avLst>
              <a:gd name="adj" fmla="val 10000"/>
            </a:avLst>
          </a:prstGeom>
          <a:solidFill>
            <a:srgbClr val="F4F7F5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22960" y="21488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900" b="1">
                <a:solidFill>
                  <a:srgbClr val="101613"/>
                </a:solidFill>
                <a:latin typeface="Segoe UI"/>
              </a:rPr>
              <a:t>إرشاد صوتي لحظي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624328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35000"/>
              </a:lnSpc>
            </a:pPr>
            <a:r>
              <a:rPr sz="1400" b="0">
                <a:solidFill>
                  <a:srgbClr val="5B6B63"/>
                </a:solidFill>
                <a:latin typeface="Segoe UI"/>
              </a:rPr>
              <a:t>تعليمات قبل كل انعطاف + كشف الخروج عن المسار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80560" y="1965960"/>
            <a:ext cx="3611880" cy="1691640"/>
          </a:xfrm>
          <a:prstGeom prst="roundRect">
            <a:avLst>
              <a:gd name="adj" fmla="val 10000"/>
            </a:avLst>
          </a:prstGeom>
          <a:solidFill>
            <a:srgbClr val="F4F7F5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663440" y="21488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900" b="1">
                <a:solidFill>
                  <a:srgbClr val="101613"/>
                </a:solidFill>
                <a:latin typeface="Segoe UI"/>
              </a:rPr>
              <a:t>مسارات آمنة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2624328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35000"/>
              </a:lnSpc>
            </a:pPr>
            <a:r>
              <a:rPr sz="1400" b="0">
                <a:solidFill>
                  <a:srgbClr val="5B6B63"/>
                </a:solidFill>
                <a:latin typeface="Segoe UI"/>
              </a:rPr>
              <a:t>موثّقة بدرجة أمان، محفوظة وتعمل أوفلاين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1965960"/>
            <a:ext cx="3611880" cy="1691640"/>
          </a:xfrm>
          <a:prstGeom prst="roundRect">
            <a:avLst>
              <a:gd name="adj" fmla="val 10000"/>
            </a:avLst>
          </a:prstGeom>
          <a:solidFill>
            <a:srgbClr val="F4F7F5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503920" y="21488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900" b="1">
                <a:solidFill>
                  <a:srgbClr val="101613"/>
                </a:solidFill>
                <a:latin typeface="Segoe UI"/>
              </a:rPr>
              <a:t>تنبيه الإشارات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0" y="2624328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35000"/>
              </a:lnSpc>
            </a:pPr>
            <a:r>
              <a:rPr sz="1400" b="0">
                <a:solidFill>
                  <a:srgbClr val="5B6B63"/>
                </a:solidFill>
                <a:latin typeface="Segoe UI"/>
              </a:rPr>
              <a:t>حالة الضوء والثواني المتبقية قبل الوصول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886200"/>
            <a:ext cx="3611880" cy="1691640"/>
          </a:xfrm>
          <a:prstGeom prst="roundRect">
            <a:avLst>
              <a:gd name="adj" fmla="val 10000"/>
            </a:avLst>
          </a:prstGeom>
          <a:solidFill>
            <a:srgbClr val="F4F7F5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22960" y="406908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900" b="1">
                <a:solidFill>
                  <a:srgbClr val="101613"/>
                </a:solidFill>
                <a:latin typeface="Segoe UI"/>
              </a:rPr>
              <a:t>بلاغات مجتمعية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544568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35000"/>
              </a:lnSpc>
            </a:pPr>
            <a:r>
              <a:rPr sz="1400" b="0">
                <a:solidFill>
                  <a:srgbClr val="5B6B63"/>
                </a:solidFill>
                <a:latin typeface="Segoe UI"/>
              </a:rPr>
              <a:t>وصف صوتي للعائق + مزامنة تلقائية لاحقًا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480560" y="3886200"/>
            <a:ext cx="3611880" cy="1691640"/>
          </a:xfrm>
          <a:prstGeom prst="roundRect">
            <a:avLst>
              <a:gd name="adj" fmla="val 10000"/>
            </a:avLst>
          </a:prstGeom>
          <a:solidFill>
            <a:srgbClr val="F4F7F5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4663440" y="406908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900" b="1">
                <a:solidFill>
                  <a:srgbClr val="101613"/>
                </a:solidFill>
                <a:latin typeface="Segoe UI"/>
              </a:rPr>
              <a:t>خرائط جامعات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663440" y="4544568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35000"/>
              </a:lnSpc>
            </a:pPr>
            <a:r>
              <a:rPr sz="1400" b="0">
                <a:solidFill>
                  <a:srgbClr val="5B6B63"/>
                </a:solidFill>
                <a:latin typeface="Segoe UI"/>
              </a:rPr>
              <a:t>خريطة متجهية + دليل صوتي لكل مبنى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21040" y="3886200"/>
            <a:ext cx="3611880" cy="1691640"/>
          </a:xfrm>
          <a:prstGeom prst="roundRect">
            <a:avLst>
              <a:gd name="adj" fmla="val 10000"/>
            </a:avLst>
          </a:prstGeom>
          <a:solidFill>
            <a:srgbClr val="F4F7F5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503920" y="406908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900" b="1">
                <a:solidFill>
                  <a:srgbClr val="101613"/>
                </a:solidFill>
                <a:latin typeface="Segoe UI"/>
              </a:rPr>
              <a:t>زر استغاثة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03920" y="4544568"/>
            <a:ext cx="32004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35000"/>
              </a:lnSpc>
            </a:pPr>
            <a:r>
              <a:rPr sz="1400" b="0">
                <a:solidFill>
                  <a:srgbClr val="5B6B63"/>
                </a:solidFill>
                <a:latin typeface="Segoe UI"/>
              </a:rPr>
              <a:t>عدّ تنازلي قابل للإلغاء + إرسال الموقع برسالة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500" b="1">
                <a:solidFill>
                  <a:srgbClr val="0B6B3A"/>
                </a:solidFill>
                <a:latin typeface="Segoe UI"/>
              </a:rPr>
              <a:t>وكل ذلك في تطبيق واحد، بحجم أقل من 25 ميجابايت، ويعمل على أندرويد 6+.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400" b="1">
                <a:solidFill>
                  <a:srgbClr val="F5A524"/>
                </a:solidFill>
                <a:latin typeface="Segoe UI"/>
              </a:rPr>
              <a:t>من الموقع إلى تعليمة مفهومة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400" b="1">
                <a:solidFill>
                  <a:srgbClr val="101613"/>
                </a:solidFill>
                <a:latin typeface="Segoe UI"/>
              </a:rPr>
              <a:t>كيف يعمل الإرشاد؟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88575" y="1600200"/>
            <a:ext cx="1463040" cy="54864"/>
          </a:xfrm>
          <a:prstGeom prst="rect">
            <a:avLst/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9037015" y="2103120"/>
            <a:ext cx="2514600" cy="1463040"/>
          </a:xfrm>
          <a:prstGeom prst="roundRect">
            <a:avLst>
              <a:gd name="adj" fmla="val 12000"/>
            </a:avLst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74175" y="224028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GPS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74175" y="2697480"/>
            <a:ext cx="2240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30000"/>
              </a:lnSpc>
            </a:pPr>
            <a:r>
              <a:rPr sz="1300" b="0">
                <a:solidFill>
                  <a:srgbClr val="FFFFFF"/>
                </a:solidFill>
                <a:latin typeface="Segoe UI"/>
              </a:rPr>
              <a:t>تحديث كل 2 متر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52967" y="269748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800" b="0">
                <a:solidFill>
                  <a:srgbClr val="5B6B63"/>
                </a:solidFill>
                <a:latin typeface="Segoe UI"/>
              </a:rPr>
              <a:t>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6655" y="2103120"/>
            <a:ext cx="2514600" cy="1463040"/>
          </a:xfrm>
          <a:prstGeom prst="roundRect">
            <a:avLst>
              <a:gd name="adj" fmla="val 12000"/>
            </a:avLst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293815" y="224028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محرك الإرشاد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93815" y="2697480"/>
            <a:ext cx="2240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30000"/>
              </a:lnSpc>
            </a:pPr>
            <a:r>
              <a:rPr sz="1300" b="0">
                <a:solidFill>
                  <a:srgbClr val="FFFFFF"/>
                </a:solidFill>
                <a:latin typeface="Segoe UI"/>
              </a:rPr>
              <a:t>إسقاط على المسار + المسافة المتبقية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772607" y="269748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800" b="0">
                <a:solidFill>
                  <a:srgbClr val="5B6B63"/>
                </a:solidFill>
                <a:latin typeface="Segoe UI"/>
              </a:rPr>
              <a:t>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76295" y="2103120"/>
            <a:ext cx="2514600" cy="1463040"/>
          </a:xfrm>
          <a:prstGeom prst="roundRect">
            <a:avLst>
              <a:gd name="adj" fmla="val 12000"/>
            </a:avLst>
          </a:prstGeom>
          <a:solidFill>
            <a:srgbClr val="06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413455" y="224028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الصوت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3455" y="2697480"/>
            <a:ext cx="2240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30000"/>
              </a:lnSpc>
            </a:pPr>
            <a:r>
              <a:rPr sz="1300" b="0">
                <a:solidFill>
                  <a:srgbClr val="FFFFFF"/>
                </a:solidFill>
                <a:latin typeface="Segoe UI"/>
              </a:rPr>
              <a:t>«امشِ ٤٠ مترًا ثم انعطف يمينًا»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92247" y="2697480"/>
            <a:ext cx="365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800" b="0">
                <a:solidFill>
                  <a:srgbClr val="5B6B63"/>
                </a:solidFill>
                <a:latin typeface="Segoe UI"/>
              </a:rPr>
              <a:t>←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95935" y="2103120"/>
            <a:ext cx="2514600" cy="1463040"/>
          </a:xfrm>
          <a:prstGeom prst="roundRect">
            <a:avLst>
              <a:gd name="adj" fmla="val 12000"/>
            </a:avLst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533095" y="2240280"/>
            <a:ext cx="22402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الاهتزاز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3095" y="2697480"/>
            <a:ext cx="224028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30000"/>
              </a:lnSpc>
            </a:pPr>
            <a:r>
              <a:rPr sz="1300" b="0">
                <a:solidFill>
                  <a:srgbClr val="FFFFFF"/>
                </a:solidFill>
                <a:latin typeface="Segoe UI"/>
              </a:rPr>
              <a:t>نمط مختلف لليمين واليسار والخطر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977639"/>
            <a:ext cx="109728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000" b="1">
                <a:solidFill>
                  <a:srgbClr val="101613"/>
                </a:solidFill>
                <a:latin typeface="Segoe UI"/>
              </a:rPr>
              <a:t>تنبيهات متدرّجة على المسافة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859975" y="4526280"/>
            <a:ext cx="1691640" cy="685800"/>
          </a:xfrm>
          <a:prstGeom prst="roundRect">
            <a:avLst>
              <a:gd name="adj" fmla="val 20000"/>
            </a:avLst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859975" y="46817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150 م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49463" y="4526280"/>
            <a:ext cx="1691640" cy="685800"/>
          </a:xfrm>
          <a:prstGeom prst="roundRect">
            <a:avLst>
              <a:gd name="adj" fmla="val 20000"/>
            </a:avLst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8049463" y="46817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80 م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38951" y="4526280"/>
            <a:ext cx="1691640" cy="685800"/>
          </a:xfrm>
          <a:prstGeom prst="roundRect">
            <a:avLst>
              <a:gd name="adj" fmla="val 20000"/>
            </a:avLst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238951" y="46817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40 م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28439" y="4526280"/>
            <a:ext cx="1691640" cy="685800"/>
          </a:xfrm>
          <a:prstGeom prst="roundRect">
            <a:avLst>
              <a:gd name="adj" fmla="val 20000"/>
            </a:avLst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4428439" y="46817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20 م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617927" y="4526280"/>
            <a:ext cx="1691640" cy="685800"/>
          </a:xfrm>
          <a:prstGeom prst="roundRect">
            <a:avLst>
              <a:gd name="adj" fmla="val 20000"/>
            </a:avLst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2617927" y="46817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10 م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807415" y="4526280"/>
            <a:ext cx="1691640" cy="685800"/>
          </a:xfrm>
          <a:prstGeom prst="roundRect">
            <a:avLst>
              <a:gd name="adj" fmla="val 20000"/>
            </a:avLst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807415" y="4681728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وصول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0080" y="55321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40000"/>
              </a:lnSpc>
            </a:pPr>
            <a:r>
              <a:rPr sz="1500" b="0">
                <a:solidFill>
                  <a:srgbClr val="5B6B63"/>
                </a:solidFill>
                <a:latin typeface="Segoe UI"/>
              </a:rPr>
              <a:t>لا يُنطق الإرشاد مرتين لنفس الحالة، والتنبيه العاجل فقط يقطع الطابور.</a:t>
            </a:r>
          </a:p>
          <a:p>
            <a:pPr algn="r" rtl="1">
              <a:lnSpc>
                <a:spcPct val="140000"/>
              </a:lnSpc>
            </a:pPr>
            <a:r>
              <a:rPr sz="1500" b="0">
                <a:solidFill>
                  <a:srgbClr val="5B6B63"/>
                </a:solidFill>
                <a:latin typeface="Segoe UI"/>
              </a:rPr>
              <a:t>وعند انقطاع GPS: «توقف في مكان آمن» ثم إعلان الاستعادة.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400" b="1">
                <a:solidFill>
                  <a:srgbClr val="F5A524"/>
                </a:solidFill>
                <a:latin typeface="Segoe UI"/>
              </a:rPr>
              <a:t>يعمل في الشارع كما في القاعة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400" b="1">
                <a:solidFill>
                  <a:srgbClr val="101613"/>
                </a:solidFill>
                <a:latin typeface="Segoe UI"/>
              </a:rPr>
              <a:t>الأوفلاين والخصوصية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88575" y="1600200"/>
            <a:ext cx="1463040" cy="54864"/>
          </a:xfrm>
          <a:prstGeom prst="rect">
            <a:avLst/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40080" y="1965960"/>
            <a:ext cx="5486400" cy="3566160"/>
          </a:xfrm>
          <a:prstGeom prst="roundRect">
            <a:avLst>
              <a:gd name="adj" fmla="val 8000"/>
            </a:avLst>
          </a:prstGeom>
          <a:solidFill>
            <a:srgbClr val="F4F7F5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2148840"/>
            <a:ext cx="49377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200" b="1">
                <a:solidFill>
                  <a:srgbClr val="0B6B3A"/>
                </a:solidFill>
                <a:latin typeface="Segoe UI"/>
              </a:rPr>
              <a:t>أوفلاين كامل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651760"/>
            <a:ext cx="493776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60000"/>
              </a:lnSpc>
            </a:pPr>
            <a:r>
              <a:rPr sz="1600" b="0">
                <a:solidFill>
                  <a:srgbClr val="101613"/>
                </a:solidFill>
                <a:latin typeface="Segoe UI"/>
              </a:rPr>
              <a:t>• كل البيانات في Hive على الجهاز</a:t>
            </a:r>
          </a:p>
          <a:p>
            <a:pPr algn="r" rtl="1">
              <a:lnSpc>
                <a:spcPct val="160000"/>
              </a:lnSpc>
            </a:pPr>
            <a:r>
              <a:rPr sz="1600" b="0">
                <a:solidFill>
                  <a:srgbClr val="101613"/>
                </a:solidFill>
                <a:latin typeface="Segoe UI"/>
              </a:rPr>
              <a:t>• خرائط متجهية بلا تحميل بلاطات</a:t>
            </a:r>
          </a:p>
          <a:p>
            <a:pPr algn="r" rtl="1">
              <a:lnSpc>
                <a:spcPct val="160000"/>
              </a:lnSpc>
            </a:pPr>
            <a:r>
              <a:rPr sz="1600" b="0">
                <a:solidFill>
                  <a:srgbClr val="101613"/>
                </a:solidFill>
                <a:latin typeface="Segoe UI"/>
              </a:rPr>
              <a:t>• البلاغات تُحفظ وتُرفع عند عودة الشبكة</a:t>
            </a:r>
          </a:p>
          <a:p>
            <a:pPr algn="r" rtl="1">
              <a:lnSpc>
                <a:spcPct val="160000"/>
              </a:lnSpc>
            </a:pPr>
            <a:r>
              <a:rPr sz="1600" b="0">
                <a:solidFill>
                  <a:srgbClr val="101613"/>
                </a:solidFill>
                <a:latin typeface="Segoe UI"/>
              </a:rPr>
              <a:t>• طابور مزامنة لا يفقد شيئًا</a:t>
            </a:r>
          </a:p>
          <a:p>
            <a:pPr algn="r" rtl="1">
              <a:lnSpc>
                <a:spcPct val="160000"/>
              </a:lnSpc>
            </a:pPr>
            <a:r>
              <a:rPr sz="1600" b="0">
                <a:solidFill>
                  <a:srgbClr val="101613"/>
                </a:solidFill>
                <a:latin typeface="Segoe UI"/>
              </a:rPr>
              <a:t>• لا ميزة أساسية تعتمد على الشبكة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0" y="1965960"/>
            <a:ext cx="5120640" cy="3566160"/>
          </a:xfrm>
          <a:prstGeom prst="roundRect">
            <a:avLst>
              <a:gd name="adj" fmla="val 8000"/>
            </a:avLst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675120" y="2148840"/>
            <a:ext cx="45720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200" b="1">
                <a:solidFill>
                  <a:srgbClr val="F5A524"/>
                </a:solidFill>
                <a:latin typeface="Segoe UI"/>
              </a:rPr>
              <a:t>خصوصية بالتصميم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651760"/>
            <a:ext cx="4572000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60000"/>
              </a:lnSpc>
            </a:pPr>
            <a:r>
              <a:rPr sz="1600" b="0">
                <a:solidFill>
                  <a:srgbClr val="FFFFFF"/>
                </a:solidFill>
                <a:latin typeface="Segoe UI"/>
              </a:rPr>
              <a:t>• تشفير AES-256 ومفتاح في Keystore</a:t>
            </a:r>
          </a:p>
          <a:p>
            <a:pPr algn="r" rtl="1">
              <a:lnSpc>
                <a:spcPct val="160000"/>
              </a:lnSpc>
            </a:pPr>
            <a:r>
              <a:rPr sz="1600" b="0">
                <a:solidFill>
                  <a:srgbClr val="FFFFFF"/>
                </a:solidFill>
                <a:latin typeface="Segoe UI"/>
              </a:rPr>
              <a:t>• لا تتبع للموقع في الخلفية</a:t>
            </a:r>
          </a:p>
          <a:p>
            <a:pPr algn="r" rtl="1">
              <a:lnSpc>
                <a:spcPct val="160000"/>
              </a:lnSpc>
            </a:pPr>
            <a:r>
              <a:rPr sz="1600" b="0">
                <a:solidFill>
                  <a:srgbClr val="FFFFFF"/>
                </a:solidFill>
                <a:latin typeface="Segoe UI"/>
              </a:rPr>
              <a:t>• الموقع يُشارك فقط مع جهات SOS</a:t>
            </a:r>
          </a:p>
          <a:p>
            <a:pPr algn="r" rtl="1">
              <a:lnSpc>
                <a:spcPct val="160000"/>
              </a:lnSpc>
            </a:pPr>
            <a:r>
              <a:rPr sz="1600" b="0">
                <a:solidFill>
                  <a:srgbClr val="FFFFFF"/>
                </a:solidFill>
                <a:latin typeface="Segoe UI"/>
              </a:rPr>
              <a:t>• حذف كل البيانات من داخل التطبيق</a:t>
            </a:r>
          </a:p>
          <a:p>
            <a:pPr algn="r" rtl="1">
              <a:lnSpc>
                <a:spcPct val="160000"/>
              </a:lnSpc>
            </a:pPr>
            <a:r>
              <a:rPr sz="1600" b="0">
                <a:solidFill>
                  <a:srgbClr val="FFFFFF"/>
                </a:solidFill>
                <a:latin typeface="Segoe UI"/>
              </a:rPr>
              <a:t>• Firebase اختياري تمامًا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400" b="1">
                <a:solidFill>
                  <a:srgbClr val="F5A524"/>
                </a:solidFill>
                <a:latin typeface="Segoe UI"/>
              </a:rPr>
              <a:t>مصمّم لمن لا يرى الشاشة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400" b="1">
                <a:solidFill>
                  <a:srgbClr val="101613"/>
                </a:solidFill>
                <a:latin typeface="Segoe UI"/>
              </a:rPr>
              <a:t>الإتاحة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88575" y="1600200"/>
            <a:ext cx="1463040" cy="54864"/>
          </a:xfrm>
          <a:prstGeom prst="rect">
            <a:avLst/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ctangle 5"/>
          <p:cNvSpPr/>
          <p:nvPr/>
        </p:nvSpPr>
        <p:spPr>
          <a:xfrm>
            <a:off x="640080" y="1965960"/>
            <a:ext cx="73152" cy="713232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2743200" y="1984248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800" b="1">
                <a:solidFill>
                  <a:srgbClr val="101613"/>
                </a:solidFill>
                <a:latin typeface="Segoe UI"/>
              </a:rPr>
              <a:t>TalkBack / VoiceOver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313432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400" b="0">
                <a:solidFill>
                  <a:srgbClr val="5B6B63"/>
                </a:solidFill>
                <a:latin typeface="Segoe UI"/>
              </a:rPr>
              <a:t>تسمية وتلميح لكل عنصر، وإعلان اسم كل شاشة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743200"/>
            <a:ext cx="73152" cy="713232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2743200" y="2761488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800" b="1">
                <a:solidFill>
                  <a:srgbClr val="101613"/>
                </a:solidFill>
                <a:latin typeface="Segoe UI"/>
              </a:rPr>
              <a:t>أهداف لمس كبيرة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090672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400" b="0">
                <a:solidFill>
                  <a:srgbClr val="5B6B63"/>
                </a:solidFill>
                <a:latin typeface="Segoe UI"/>
              </a:rPr>
              <a:t>88dp للأزرار الرئيسية، 56dp للثانوية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3520440"/>
            <a:ext cx="73152" cy="713232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2743200" y="3538728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800" b="1">
                <a:solidFill>
                  <a:srgbClr val="101613"/>
                </a:solidFill>
                <a:latin typeface="Segoe UI"/>
              </a:rPr>
              <a:t>تباين عالٍ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867912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400" b="0">
                <a:solidFill>
                  <a:srgbClr val="5B6B63"/>
                </a:solidFill>
                <a:latin typeface="Segoe UI"/>
              </a:rPr>
              <a:t>وضع أصفر على أسود + تباين ≥ 4.5:1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4297680"/>
            <a:ext cx="73152" cy="713232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2743200" y="4315968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800" b="1">
                <a:solidFill>
                  <a:srgbClr val="101613"/>
                </a:solidFill>
                <a:latin typeface="Segoe UI"/>
              </a:rPr>
              <a:t>بديل لمسي دائم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645152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400" b="0">
                <a:solidFill>
                  <a:srgbClr val="5B6B63"/>
                </a:solidFill>
                <a:latin typeface="Segoe UI"/>
              </a:rPr>
              <a:t>كل أمر صوتي له زر مقابل — لا اعتماد على الصوت وحده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5074920"/>
            <a:ext cx="73152" cy="713232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2743200" y="5093208"/>
            <a:ext cx="8778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800" b="1">
                <a:solidFill>
                  <a:srgbClr val="101613"/>
                </a:solidFill>
                <a:latin typeface="Segoe UI"/>
              </a:rPr>
              <a:t>قراءة عند التحديد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5422392"/>
            <a:ext cx="106070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400" b="0">
                <a:solidFill>
                  <a:srgbClr val="5B6B63"/>
                </a:solidFill>
                <a:latin typeface="Segoe UI"/>
              </a:rPr>
              <a:t>خيار يقرأ العنصر عند وصول التركيز إليه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598932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400" b="1">
                <a:solidFill>
                  <a:srgbClr val="0B6B3A"/>
                </a:solidFill>
                <a:latin typeface="Segoe UI"/>
              </a:rPr>
              <a:t>تدقيق WCAG 2.1 AA موثّق في docs/ACCESSIBILITY_AUDIT.md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400" b="1">
                <a:solidFill>
                  <a:srgbClr val="F5A524"/>
                </a:solidFill>
                <a:latin typeface="Segoe UI"/>
              </a:rPr>
              <a:t>طبقات واضحة ومنطق قابل للاختبار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400" b="1">
                <a:solidFill>
                  <a:srgbClr val="101613"/>
                </a:solidFill>
                <a:latin typeface="Segoe UI"/>
              </a:rPr>
              <a:t>المعمارية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88575" y="1600200"/>
            <a:ext cx="1463040" cy="54864"/>
          </a:xfrm>
          <a:prstGeom prst="rect">
            <a:avLst/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10881360" cy="868680"/>
          </a:xfrm>
          <a:prstGeom prst="roundRect">
            <a:avLst>
              <a:gd name="adj" fmla="val 10000"/>
            </a:avLst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778240" y="2212848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الشاشات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267712"/>
            <a:ext cx="7680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500" b="0">
                <a:solidFill>
                  <a:srgbClr val="FFFFFF"/>
                </a:solidFill>
                <a:latin typeface="Segoe UI"/>
              </a:rPr>
              <a:t>10 شاشات + مكوّنات إتاحة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035808"/>
            <a:ext cx="10881360" cy="868680"/>
          </a:xfrm>
          <a:prstGeom prst="roundRect">
            <a:avLst>
              <a:gd name="adj" fmla="val 10000"/>
            </a:avLst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778240" y="3236976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الحالة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91840"/>
            <a:ext cx="7680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500" b="0">
                <a:solidFill>
                  <a:srgbClr val="FFFFFF"/>
                </a:solidFill>
                <a:latin typeface="Segoe UI"/>
              </a:rPr>
              <a:t>AppState — منسّق مركزي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4059936"/>
            <a:ext cx="10881360" cy="868680"/>
          </a:xfrm>
          <a:prstGeom prst="roundRect">
            <a:avLst>
              <a:gd name="adj" fmla="val 10000"/>
            </a:avLst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778240" y="4261104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الخدمات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4315968"/>
            <a:ext cx="7680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500" b="0">
                <a:solidFill>
                  <a:srgbClr val="FFFFFF"/>
                </a:solidFill>
                <a:latin typeface="Segoe UI"/>
              </a:rPr>
              <a:t>صوت · موقع · إرشاد · بلاغات · SOS · مزامنة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5084064"/>
            <a:ext cx="10881360" cy="868680"/>
          </a:xfrm>
          <a:prstGeom prst="roundRect">
            <a:avLst>
              <a:gd name="adj" fmla="val 10000"/>
            </a:avLst>
          </a:prstGeom>
          <a:solidFill>
            <a:srgbClr val="06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778240" y="5285232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Segoe UI"/>
              </a:rPr>
              <a:t>التخزين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5340096"/>
            <a:ext cx="76809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500" b="0">
                <a:solidFill>
                  <a:srgbClr val="FFFFFF"/>
                </a:solidFill>
                <a:latin typeface="Segoe UI"/>
              </a:rPr>
              <a:t>Hive مشفّر + Firestore اختياري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6172200"/>
            <a:ext cx="108813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400" b="0">
                <a:solidFill>
                  <a:srgbClr val="5B6B63"/>
                </a:solidFill>
                <a:latin typeface="Segoe UI"/>
              </a:rPr>
              <a:t>محرك الإرشاد والأوامر الصوتية والجغرافيا دوال نقية — مغطاة بـ 61 اختبارًا.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400" b="1">
                <a:solidFill>
                  <a:srgbClr val="F5A524"/>
                </a:solidFill>
                <a:latin typeface="Segoe UI"/>
              </a:rPr>
              <a:t>مفتوحة المصدر بالكامل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400" b="1">
                <a:solidFill>
                  <a:srgbClr val="101613"/>
                </a:solidFill>
                <a:latin typeface="Segoe UI"/>
              </a:rPr>
              <a:t>التقنيات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88575" y="1600200"/>
            <a:ext cx="1463040" cy="54864"/>
          </a:xfrm>
          <a:prstGeom prst="rect">
            <a:avLst/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2651760" cy="566928"/>
          </a:xfrm>
          <a:prstGeom prst="roundRect">
            <a:avLst>
              <a:gd name="adj" fmla="val 15000"/>
            </a:avLst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130552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الواجهة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121408"/>
            <a:ext cx="79552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600" b="0">
                <a:solidFill>
                  <a:srgbClr val="101613"/>
                </a:solidFill>
                <a:latin typeface="Segoe UI"/>
              </a:rPr>
              <a:t>Flutter 3.27+ · Material 3 · RTL</a:t>
            </a:r>
          </a:p>
        </p:txBody>
      </p:sp>
      <p:sp>
        <p:nvSpPr>
          <p:cNvPr id="9" name="Rectangle 8"/>
          <p:cNvSpPr/>
          <p:nvPr/>
        </p:nvSpPr>
        <p:spPr>
          <a:xfrm>
            <a:off x="640080" y="2615184"/>
            <a:ext cx="10881360" cy="9144"/>
          </a:xfrm>
          <a:prstGeom prst="rect">
            <a:avLst/>
          </a:prstGeom>
          <a:solidFill>
            <a:srgbClr val="D8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ounded Rectangle 9"/>
          <p:cNvSpPr/>
          <p:nvPr/>
        </p:nvSpPr>
        <p:spPr>
          <a:xfrm>
            <a:off x="640080" y="2670048"/>
            <a:ext cx="2651760" cy="566928"/>
          </a:xfrm>
          <a:prstGeom prst="roundRect">
            <a:avLst>
              <a:gd name="adj" fmla="val 15000"/>
            </a:avLst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0080" y="2788920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الصوت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66160" y="2779776"/>
            <a:ext cx="79552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600" b="0">
                <a:solidFill>
                  <a:srgbClr val="101613"/>
                </a:solidFill>
                <a:latin typeface="Segoe UI"/>
              </a:rPr>
              <a:t>flutter_tts (ar-EG) · speech_to_text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3273552"/>
            <a:ext cx="10881360" cy="9144"/>
          </a:xfrm>
          <a:prstGeom prst="rect">
            <a:avLst/>
          </a:prstGeom>
          <a:solidFill>
            <a:srgbClr val="D8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640080" y="3328416"/>
            <a:ext cx="2651760" cy="566928"/>
          </a:xfrm>
          <a:prstGeom prst="roundRect">
            <a:avLst>
              <a:gd name="adj" fmla="val 15000"/>
            </a:avLst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40080" y="3447288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الموقع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3438144"/>
            <a:ext cx="79552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600" b="0">
                <a:solidFill>
                  <a:srgbClr val="101613"/>
                </a:solidFill>
                <a:latin typeface="Segoe UI"/>
              </a:rPr>
              <a:t>geolocator + محرك إرشاد مخصص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3931920"/>
            <a:ext cx="10881360" cy="9144"/>
          </a:xfrm>
          <a:prstGeom prst="rect">
            <a:avLst/>
          </a:prstGeom>
          <a:solidFill>
            <a:srgbClr val="D8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640080" y="3986784"/>
            <a:ext cx="2651760" cy="566928"/>
          </a:xfrm>
          <a:prstGeom prst="roundRect">
            <a:avLst>
              <a:gd name="adj" fmla="val 15000"/>
            </a:avLst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0080" y="4105656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الخرائط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66160" y="4096512"/>
            <a:ext cx="79552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600" b="0">
                <a:solidFill>
                  <a:srgbClr val="101613"/>
                </a:solidFill>
                <a:latin typeface="Segoe UI"/>
              </a:rPr>
              <a:t>CustomPainter (أوفلاين) + flutter_map/OSM اختياري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4590288"/>
            <a:ext cx="10881360" cy="9144"/>
          </a:xfrm>
          <a:prstGeom prst="rect">
            <a:avLst/>
          </a:prstGeom>
          <a:solidFill>
            <a:srgbClr val="D8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ounded Rectangle 21"/>
          <p:cNvSpPr/>
          <p:nvPr/>
        </p:nvSpPr>
        <p:spPr>
          <a:xfrm>
            <a:off x="640080" y="4645152"/>
            <a:ext cx="2651760" cy="566928"/>
          </a:xfrm>
          <a:prstGeom prst="roundRect">
            <a:avLst>
              <a:gd name="adj" fmla="val 15000"/>
            </a:avLst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40080" y="4764024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التخزين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4754880"/>
            <a:ext cx="79552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600" b="0">
                <a:solidFill>
                  <a:srgbClr val="101613"/>
                </a:solidFill>
                <a:latin typeface="Segoe UI"/>
              </a:rPr>
              <a:t>hive مشفّر + flutter_secure_storage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5248656"/>
            <a:ext cx="10881360" cy="9144"/>
          </a:xfrm>
          <a:prstGeom prst="rect">
            <a:avLst/>
          </a:prstGeom>
          <a:solidFill>
            <a:srgbClr val="D8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ounded Rectangle 25"/>
          <p:cNvSpPr/>
          <p:nvPr/>
        </p:nvSpPr>
        <p:spPr>
          <a:xfrm>
            <a:off x="640080" y="5303520"/>
            <a:ext cx="2651760" cy="566928"/>
          </a:xfrm>
          <a:prstGeom prst="roundRect">
            <a:avLst>
              <a:gd name="adj" fmla="val 15000"/>
            </a:avLst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40080" y="5422392"/>
            <a:ext cx="2651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السحابة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5413248"/>
            <a:ext cx="7955279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600" b="0">
                <a:solidFill>
                  <a:srgbClr val="101613"/>
                </a:solidFill>
                <a:latin typeface="Segoe UI"/>
              </a:rPr>
              <a:t>Firebase Auth / Firestore / FCM — اختياري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5907024"/>
            <a:ext cx="10881360" cy="9144"/>
          </a:xfrm>
          <a:prstGeom prst="rect">
            <a:avLst/>
          </a:prstGeom>
          <a:solidFill>
            <a:srgbClr val="D8E2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400" b="1">
                <a:solidFill>
                  <a:srgbClr val="F5A524"/>
                </a:solidFill>
                <a:latin typeface="Segoe UI"/>
              </a:rPr>
              <a:t>من v1.0 إلى المنظومة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400" b="1">
                <a:solidFill>
                  <a:srgbClr val="101613"/>
                </a:solidFill>
                <a:latin typeface="Segoe UI"/>
              </a:rPr>
              <a:t>خريطة الطريق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88575" y="1600200"/>
            <a:ext cx="1463040" cy="54864"/>
          </a:xfrm>
          <a:prstGeom prst="rect">
            <a:avLst/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2103120" cy="685800"/>
          </a:xfrm>
          <a:prstGeom prst="roundRect">
            <a:avLst>
              <a:gd name="adj" fmla="val 20000"/>
            </a:avLst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640080" y="2185416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v1.0 — الآن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2176272"/>
            <a:ext cx="8503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600" b="0">
                <a:solidFill>
                  <a:srgbClr val="101613"/>
                </a:solidFill>
                <a:latin typeface="Segoe UI"/>
              </a:rPr>
              <a:t>الميزات الأساسية، أوفلاين كامل، 61 اختبارًا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34640"/>
            <a:ext cx="2103120" cy="685800"/>
          </a:xfrm>
          <a:prstGeom prst="roundRect">
            <a:avLst>
              <a:gd name="adj" fmla="val 20000"/>
            </a:avLst>
          </a:prstGeom>
          <a:solidFill>
            <a:srgbClr val="147D4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640080" y="3008376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v1.1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2999232"/>
            <a:ext cx="8503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600" b="0">
                <a:solidFill>
                  <a:srgbClr val="101613"/>
                </a:solidFill>
                <a:latin typeface="Segoe UI"/>
              </a:rPr>
              <a:t>التحقق المجتمعي · اهتزاز دلالي · مراقبة GPS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657600"/>
            <a:ext cx="2103120" cy="685800"/>
          </a:xfrm>
          <a:prstGeom prst="roundRect">
            <a:avLst>
              <a:gd name="adj" fmla="val 20000"/>
            </a:avLst>
          </a:prstGeom>
          <a:solidFill>
            <a:srgbClr val="1E8E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640080" y="3831336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v1.2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17520" y="3822192"/>
            <a:ext cx="8503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600" b="0">
                <a:solidFill>
                  <a:srgbClr val="101613"/>
                </a:solidFill>
                <a:latin typeface="Segoe UI"/>
              </a:rPr>
              <a:t>Bluetooth Beacons لدقة داخل المباني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480560"/>
            <a:ext cx="2103120" cy="685800"/>
          </a:xfrm>
          <a:prstGeom prst="roundRect">
            <a:avLst>
              <a:gd name="adj" fmla="val 20000"/>
            </a:avLst>
          </a:prstGeom>
          <a:solidFill>
            <a:srgbClr val="2AA0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0080" y="4654296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v1.3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17520" y="4645152"/>
            <a:ext cx="8503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600" b="0">
                <a:solidFill>
                  <a:srgbClr val="101613"/>
                </a:solidFill>
                <a:latin typeface="Segoe UI"/>
              </a:rPr>
              <a:t>توصيف الصور وكشف الإشارات بالكاميرا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303520"/>
            <a:ext cx="2103120" cy="685800"/>
          </a:xfrm>
          <a:prstGeom prst="roundRect">
            <a:avLst>
              <a:gd name="adj" fmla="val 20000"/>
            </a:avLst>
          </a:prstGeom>
          <a:solidFill>
            <a:srgbClr val="06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40080" y="5477256"/>
            <a:ext cx="21031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600" b="1">
                <a:solidFill>
                  <a:srgbClr val="FFFFFF"/>
                </a:solidFill>
                <a:latin typeface="Segoe UI"/>
              </a:rPr>
              <a:t>v2.0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17520" y="5468112"/>
            <a:ext cx="8503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600" b="0">
                <a:solidFill>
                  <a:srgbClr val="101613"/>
                </a:solidFill>
                <a:latin typeface="Segoe UI"/>
              </a:rPr>
              <a:t>ساعة ذكية · تكامل حكومي · لغات إضافية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640080" y="41148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1400" b="1">
                <a:solidFill>
                  <a:srgbClr val="F5A524"/>
                </a:solidFill>
                <a:latin typeface="Segoe UI"/>
              </a:rPr>
              <a:t>لماذا يهم؟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731520"/>
            <a:ext cx="109728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3400" b="1">
                <a:solidFill>
                  <a:srgbClr val="101613"/>
                </a:solidFill>
                <a:latin typeface="Segoe UI"/>
              </a:rPr>
              <a:t>الأثر</a:t>
            </a:r>
          </a:p>
        </p:txBody>
      </p:sp>
      <p:sp>
        <p:nvSpPr>
          <p:cNvPr id="5" name="Rectangle 4"/>
          <p:cNvSpPr/>
          <p:nvPr/>
        </p:nvSpPr>
        <p:spPr>
          <a:xfrm>
            <a:off x="10088575" y="1600200"/>
            <a:ext cx="1463040" cy="54864"/>
          </a:xfrm>
          <a:prstGeom prst="rect">
            <a:avLst/>
          </a:prstGeom>
          <a:solidFill>
            <a:srgbClr val="0B6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ounded Rectangle 5"/>
          <p:cNvSpPr/>
          <p:nvPr/>
        </p:nvSpPr>
        <p:spPr>
          <a:xfrm>
            <a:off x="640080" y="2011680"/>
            <a:ext cx="3520440" cy="1463040"/>
          </a:xfrm>
          <a:prstGeom prst="roundRect">
            <a:avLst>
              <a:gd name="adj" fmla="val 10000"/>
            </a:avLst>
          </a:prstGeom>
          <a:solidFill>
            <a:srgbClr val="F4F7F5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868680" y="2194560"/>
            <a:ext cx="3063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200" b="1">
                <a:solidFill>
                  <a:srgbClr val="0B6B3A"/>
                </a:solidFill>
                <a:latin typeface="Segoe UI"/>
              </a:rPr>
              <a:t>استقلالية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269748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400" b="0">
                <a:solidFill>
                  <a:srgbClr val="5B6B63"/>
                </a:solidFill>
                <a:latin typeface="Segoe UI"/>
              </a:rPr>
              <a:t>طالب يذهب لمحاضرته دون مرافق دائم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2011680"/>
            <a:ext cx="3520440" cy="1463040"/>
          </a:xfrm>
          <a:prstGeom prst="roundRect">
            <a:avLst>
              <a:gd name="adj" fmla="val 10000"/>
            </a:avLst>
          </a:prstGeom>
          <a:solidFill>
            <a:srgbClr val="F4F7F5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4572000" y="2194560"/>
            <a:ext cx="3063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200" b="1">
                <a:solidFill>
                  <a:srgbClr val="0B6B3A"/>
                </a:solidFill>
                <a:latin typeface="Segoe UI"/>
              </a:rPr>
              <a:t>سلامة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69748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400" b="0">
                <a:solidFill>
                  <a:srgbClr val="5B6B63"/>
                </a:solidFill>
                <a:latin typeface="Segoe UI"/>
              </a:rPr>
              <a:t>تنبيه قبل الإشارة والعائق، لا بعدهما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011680"/>
            <a:ext cx="3520440" cy="1463040"/>
          </a:xfrm>
          <a:prstGeom prst="roundRect">
            <a:avLst>
              <a:gd name="adj" fmla="val 10000"/>
            </a:avLst>
          </a:prstGeom>
          <a:solidFill>
            <a:srgbClr val="F4F7F5"/>
          </a:solidFill>
          <a:ln w="12700">
            <a:solidFill>
              <a:srgbClr val="D8E2D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275320" y="2194560"/>
            <a:ext cx="306324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200" b="1">
                <a:solidFill>
                  <a:srgbClr val="0B6B3A"/>
                </a:solidFill>
                <a:latin typeface="Segoe UI"/>
              </a:rPr>
              <a:t>شمول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75320" y="2697480"/>
            <a:ext cx="306324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30000"/>
              </a:lnSpc>
            </a:pPr>
            <a:r>
              <a:rPr sz="1400" b="0">
                <a:solidFill>
                  <a:srgbClr val="5B6B63"/>
                </a:solidFill>
                <a:latin typeface="Segoe UI"/>
              </a:rPr>
              <a:t>مجاني، يعمل على أجهزة قديمة، وبدون إنترنت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77639"/>
            <a:ext cx="1691640" cy="640080"/>
          </a:xfrm>
          <a:prstGeom prst="roundRect">
            <a:avLst>
              <a:gd name="adj" fmla="val 20000"/>
            </a:avLst>
          </a:prstGeom>
          <a:solidFill>
            <a:srgbClr val="06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40080" y="411480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SDG 3 الصحة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450592" y="3977639"/>
            <a:ext cx="1691640" cy="640080"/>
          </a:xfrm>
          <a:prstGeom prst="roundRect">
            <a:avLst>
              <a:gd name="adj" fmla="val 20000"/>
            </a:avLst>
          </a:prstGeom>
          <a:solidFill>
            <a:srgbClr val="06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2450592" y="411480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SDG 4 التعليم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261104" y="3977639"/>
            <a:ext cx="1691640" cy="640080"/>
          </a:xfrm>
          <a:prstGeom prst="roundRect">
            <a:avLst>
              <a:gd name="adj" fmla="val 20000"/>
            </a:avLst>
          </a:prstGeom>
          <a:solidFill>
            <a:srgbClr val="06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261104" y="411480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SDG 9 الابتكار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071616" y="3977639"/>
            <a:ext cx="1691640" cy="640080"/>
          </a:xfrm>
          <a:prstGeom prst="roundRect">
            <a:avLst>
              <a:gd name="adj" fmla="val 20000"/>
            </a:avLst>
          </a:prstGeom>
          <a:solidFill>
            <a:srgbClr val="06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071616" y="411480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SDG 10 المساواة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882128" y="3977639"/>
            <a:ext cx="1691640" cy="640080"/>
          </a:xfrm>
          <a:prstGeom prst="roundRect">
            <a:avLst>
              <a:gd name="adj" fmla="val 20000"/>
            </a:avLst>
          </a:prstGeom>
          <a:solidFill>
            <a:srgbClr val="06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7882128" y="411480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SDG 11 مدن مستدامة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692640" y="3977639"/>
            <a:ext cx="1691640" cy="640080"/>
          </a:xfrm>
          <a:prstGeom prst="roundRect">
            <a:avLst>
              <a:gd name="adj" fmla="val 20000"/>
            </a:avLst>
          </a:prstGeom>
          <a:solidFill>
            <a:srgbClr val="06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692640" y="4114800"/>
            <a:ext cx="1691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 rtl="1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Segoe UI"/>
              </a:rPr>
              <a:t>SDG 17 الشراكات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" y="5074920"/>
            <a:ext cx="109728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50000"/>
              </a:lnSpc>
            </a:pPr>
            <a:r>
              <a:rPr sz="1500" b="0">
                <a:solidFill>
                  <a:srgbClr val="5B6B63"/>
                </a:solidFill>
                <a:latin typeface="Segoe UI"/>
              </a:rPr>
              <a:t>المؤشرات المستهدفة: ≥ 90% إكمال الرحلة دون مساعدة · رضا ≥ 4.2/5 · صفر حوادث.</a:t>
            </a:r>
          </a:p>
          <a:p>
            <a:pPr algn="r" rtl="1">
              <a:lnSpc>
                <a:spcPct val="150000"/>
              </a:lnSpc>
            </a:pPr>
            <a:r>
              <a:rPr sz="1500" b="0">
                <a:solidFill>
                  <a:srgbClr val="5B6B63"/>
                </a:solidFill>
                <a:latin typeface="Segoe UI"/>
              </a:rPr>
              <a:t>ما لا ندّعيه: التطبيق أداة مساعدة، وليس بديلًا عن العصا البيضاء أو المرافق.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64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6656832"/>
            <a:ext cx="12191695" cy="201168"/>
          </a:xfrm>
          <a:prstGeom prst="rect">
            <a:avLst/>
          </a:prstGeom>
          <a:solidFill>
            <a:srgbClr val="F5A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822960" y="146304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4400" b="1">
                <a:solidFill>
                  <a:srgbClr val="FFFFFF"/>
                </a:solidFill>
                <a:latin typeface="Segoe UI"/>
              </a:rPr>
              <a:t>جرّبها بنفسك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468880"/>
            <a:ext cx="1051560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50000"/>
              </a:lnSpc>
            </a:pPr>
            <a:r>
              <a:rPr sz="2200" b="0">
                <a:solidFill>
                  <a:srgbClr val="D8EFE3"/>
                </a:solidFill>
                <a:latin typeface="Segoe UI"/>
              </a:rPr>
              <a:t>أغمض عينيك، واضغط زر الاستغاثة مرتين، ثم اسمع.</a:t>
            </a:r>
          </a:p>
          <a:p>
            <a:pPr algn="r" rtl="1">
              <a:lnSpc>
                <a:spcPct val="150000"/>
              </a:lnSpc>
            </a:pPr>
            <a:r>
              <a:rPr sz="2200" b="0">
                <a:solidFill>
                  <a:srgbClr val="D8EFE3"/>
                </a:solidFill>
                <a:latin typeface="Segoe UI"/>
              </a:rPr>
              <a:t>هذه هي التجربة التي نقدّمها — لا شرائح، بل استقلالية.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1148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15000"/>
              </a:lnSpc>
            </a:pPr>
            <a:r>
              <a:rPr sz="2400" b="1">
                <a:solidFill>
                  <a:srgbClr val="F5A524"/>
                </a:solidFill>
                <a:latin typeface="Segoe UI"/>
              </a:rPr>
              <a:t>github.com/mo3bdo23/basira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548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 rtl="1">
              <a:lnSpc>
                <a:spcPct val="140000"/>
              </a:lnSpc>
            </a:pPr>
            <a:r>
              <a:rPr sz="1600" b="0">
                <a:solidFill>
                  <a:srgbClr val="A5C9B4"/>
                </a:solidFill>
                <a:latin typeface="Segoe UI"/>
              </a:rPr>
              <a:t>الكود مفتوح · يعمل بدون إنترنت · يدعم TalkBack و VoiceOver</a:t>
            </a:r>
          </a:p>
          <a:p>
            <a:pPr algn="r" rtl="1">
              <a:lnSpc>
                <a:spcPct val="140000"/>
              </a:lnSpc>
            </a:pPr>
            <a:r>
              <a:rPr sz="1600" b="0">
                <a:solidFill>
                  <a:srgbClr val="A5C9B4"/>
                </a:solidFill>
                <a:latin typeface="Segoe UI"/>
              </a:rPr>
              <a:t>MIT License © 2026 Basira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بصيرة — تطبيق تنقّل صوتي لذوي الإعاقة البصرية</dc:title>
  <dc:subject>Voice-first navigation for blind and low-vision users</dc:subject>
  <dc:creator>Basira</dc:creator>
  <cp:keywords>accessibility, flutter, navigation, offline, sos</cp:keywords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  <dc:language>ar</dc:language>
</cp:coreProperties>
</file>