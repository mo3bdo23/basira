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8" r:id="rId19"/>
    <p:sldId id="269" r:id="rId20"/>
    <p:sldId id="270" r:id="rId21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85800"/>
            <a:ext cx="1234440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5544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0">
                <a:solidFill>
                  <a:srgbClr val="CFE9D9"/>
                </a:solidFill>
                <a:latin typeface="Segoe UI"/>
              </a:rPr>
              <a:t>تطبيق تنقّل صوتي لذوي الإعاقة البصرية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8400" b="1">
                <a:solidFill>
                  <a:srgbClr val="FFFFFF"/>
                </a:solidFill>
                <a:latin typeface="Segoe UI"/>
              </a:rPr>
              <a:t>بصيرة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000" b="1">
                <a:solidFill>
                  <a:srgbClr val="F5A524"/>
                </a:solidFill>
                <a:latin typeface="Segoe UI"/>
              </a:rPr>
              <a:t>طريقك الآمن.. بصوتك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0">
                <a:solidFill>
                  <a:srgbClr val="E8F5EE"/>
                </a:solidFill>
                <a:latin typeface="Segoe UI"/>
              </a:rPr>
              <a:t>إرشاد صوتي لحظي · مسارات آمنة · تنبيه إشارات المرور · خرائط جامعات · زر استغاثة</a:t>
            </a:r>
          </a:p>
          <a:p>
            <a:pPr algn="r" rtl="1">
              <a:lnSpc>
                <a:spcPct val="140000"/>
              </a:lnSpc>
            </a:pPr>
            <a:r>
              <a:rPr sz="1800" b="0">
                <a:solidFill>
                  <a:srgbClr val="E8F5EE"/>
                </a:solidFill>
                <a:latin typeface="Segoe UI"/>
              </a:rPr>
              <a:t>يعمل بالكامل بدون إنترنت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A5C9B4"/>
                </a:solidFill>
                <a:latin typeface="Segoe UI"/>
              </a:rPr>
              <a:t>github.com/mo3bdo23/basira   ·   MIT License   ·   Flutter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لماذا نبني بصيرة؟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المشكلة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6949440" cy="105156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949440" y="1965960"/>
            <a:ext cx="82296" cy="105156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78040" y="207568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2600" b="1">
                <a:solidFill>
                  <a:srgbClr val="0B6B3A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756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100" b="1">
                <a:solidFill>
                  <a:srgbClr val="101613"/>
                </a:solidFill>
                <a:latin typeface="Segoe UI"/>
              </a:rPr>
              <a:t>غياب الإرشاد الصوتي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5B6B63"/>
                </a:solidFill>
                <a:latin typeface="Segoe UI"/>
              </a:rPr>
              <a:t>المكفوف يعتمد على سؤال المارة أو على مرافق دائم للتنقل.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6949440" cy="105156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949440" y="3200400"/>
            <a:ext cx="82296" cy="105156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78040" y="331012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2600" b="1">
                <a:solidFill>
                  <a:srgbClr val="0B6B3A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101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100" b="1">
                <a:solidFill>
                  <a:srgbClr val="101613"/>
                </a:solidFill>
                <a:latin typeface="Segoe UI"/>
              </a:rPr>
              <a:t>مسارات غير آمنة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30752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5B6B63"/>
                </a:solidFill>
                <a:latin typeface="Segoe UI"/>
              </a:rPr>
              <a:t>أرصفة مكسورة، حفر، وأعمال بناء بلا توثيق أو تحذير مسبق.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6949440" cy="105156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949440" y="4434840"/>
            <a:ext cx="82296" cy="105156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78040" y="454456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2600" b="1">
                <a:solidFill>
                  <a:srgbClr val="0B6B3A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5445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100" b="1">
                <a:solidFill>
                  <a:srgbClr val="101613"/>
                </a:solidFill>
                <a:latin typeface="Segoe UI"/>
              </a:rPr>
              <a:t>إشارات بلا صوت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65192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5B6B63"/>
                </a:solidFill>
                <a:latin typeface="Segoe UI"/>
              </a:rPr>
              <a:t>عبور الطرق يعتمد على التخمين أو على مساعدة الآخرين.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965960"/>
            <a:ext cx="3657600" cy="3703320"/>
          </a:xfrm>
          <a:prstGeom prst="roundRect">
            <a:avLst>
              <a:gd name="adj" fmla="val 8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0" y="2240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>
                <a:solidFill>
                  <a:srgbClr val="F5A524"/>
                </a:solidFill>
                <a:latin typeface="Segoe UI"/>
              </a:rPr>
              <a:t>النتيجة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788920"/>
            <a:ext cx="3108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Segoe UI"/>
              </a:rPr>
              <a:t>فقدان الاستقلالية</a:t>
            </a:r>
          </a:p>
          <a:p>
            <a:pPr algn="r" rtl="1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r" rtl="1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Segoe UI"/>
              </a:rPr>
              <a:t>تقليل الحضور</a:t>
            </a:r>
          </a:p>
          <a:p>
            <a:pPr algn="r" rtl="1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r" rtl="1">
              <a:lnSpc>
                <a:spcPct val="150000"/>
              </a:lnSpc>
            </a:pPr>
            <a:r>
              <a:rPr sz="2000" b="0">
                <a:solidFill>
                  <a:srgbClr val="FFFFFF"/>
                </a:solidFill>
                <a:latin typeface="Segoe UI"/>
              </a:rPr>
              <a:t>قلق دائم للطالب وأسرته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>
                <a:solidFill>
                  <a:srgbClr val="0B6B3A"/>
                </a:solidFill>
                <a:latin typeface="Segoe UI"/>
              </a:rPr>
              <a:t>الحل يجب أن يكون صوتيًا بالكامل، ويعمل بلا إنترنت، ومصمّمًا لمصر.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عصا بيضاء رقمية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الحل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2000" b="0">
                <a:solidFill>
                  <a:srgbClr val="5B6B63"/>
                </a:solidFill>
                <a:latin typeface="Segoe UI"/>
              </a:rPr>
              <a:t>تطبيق يسمعك، يرشدك خطوة بخطوة، يحذّرك من الإشارات والعوائق،</a:t>
            </a:r>
          </a:p>
          <a:p>
            <a:pPr algn="r" rtl="1">
              <a:lnSpc>
                <a:spcPct val="140000"/>
              </a:lnSpc>
            </a:pPr>
            <a:r>
              <a:rPr sz="2000" b="0">
                <a:solidFill>
                  <a:srgbClr val="5B6B63"/>
                </a:solidFill>
                <a:latin typeface="Segoe UI"/>
              </a:rPr>
              <a:t>ويطلب المساعدة عنك — بدون لمس الشاشة وبدون إنترنت.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1417320" cy="960120"/>
          </a:xfrm>
          <a:prstGeom prst="roundRect">
            <a:avLst>
              <a:gd name="adj" fmla="val 15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3310128"/>
            <a:ext cx="12710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Splash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2" y="329184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>
                <a:solidFill>
                  <a:srgbClr val="5B6B63"/>
                </a:solidFill>
                <a:latin typeface="Segoe UI"/>
              </a:rPr>
              <a:t>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4872" y="3063240"/>
            <a:ext cx="2011680" cy="960120"/>
          </a:xfrm>
          <a:prstGeom prst="roundRect">
            <a:avLst>
              <a:gd name="adj" fmla="val 15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478024" y="3310128"/>
            <a:ext cx="1865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إخلاء المسؤولية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329184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>
                <a:solidFill>
                  <a:srgbClr val="5B6B63"/>
                </a:solidFill>
                <a:latin typeface="Segoe UI"/>
              </a:rPr>
              <a:t>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64024" y="3063240"/>
            <a:ext cx="1783080" cy="960120"/>
          </a:xfrm>
          <a:prstGeom prst="roundRect">
            <a:avLst>
              <a:gd name="adj" fmla="val 15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37176" y="3310128"/>
            <a:ext cx="1636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تدريب صوتي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329184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>
                <a:solidFill>
                  <a:srgbClr val="5B6B63"/>
                </a:solidFill>
                <a:latin typeface="Segoe UI"/>
              </a:rPr>
              <a:t>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94576" y="3063240"/>
            <a:ext cx="1463040" cy="960120"/>
          </a:xfrm>
          <a:prstGeom prst="roundRect">
            <a:avLst>
              <a:gd name="adj" fmla="val 15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67728" y="3310128"/>
            <a:ext cx="1316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الرئيسية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29184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>
                <a:solidFill>
                  <a:srgbClr val="5B6B63"/>
                </a:solidFill>
                <a:latin typeface="Segoe UI"/>
              </a:rPr>
              <a:t>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05088" y="3063240"/>
            <a:ext cx="3108960" cy="960120"/>
          </a:xfrm>
          <a:prstGeom prst="roundRect">
            <a:avLst>
              <a:gd name="adj" fmla="val 15000"/>
            </a:avLst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778240" y="3310128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تنقّل · بلاغ · خريطة · 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700" b="0">
                <a:solidFill>
                  <a:srgbClr val="101613"/>
                </a:solidFill>
                <a:latin typeface="Segoe UI"/>
              </a:rPr>
              <a:t>سبع شاشات، كلها مصمّمة لتُستخدم بالسمع فقط:</a:t>
            </a:r>
          </a:p>
          <a:p>
            <a:pPr algn="r" rtl="1">
              <a:lnSpc>
                <a:spcPct val="150000"/>
              </a:lnSpc>
            </a:pPr>
            <a:r>
              <a:rPr sz="1700" b="0">
                <a:solidFill>
                  <a:srgbClr val="101613"/>
                </a:solidFill>
                <a:latin typeface="Segoe UI"/>
              </a:rPr>
              <a:t>كل شاشة تُعلن نفسها، وكل إجراء له تأكيد منطوق، ولكل أمر صوتي زر بديل.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ما الذي يجعله مختلفًا؟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الميزات الأساسية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611880" cy="169164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1">
                <a:solidFill>
                  <a:srgbClr val="101613"/>
                </a:solidFill>
                <a:latin typeface="Segoe UI"/>
              </a:rPr>
              <a:t>إرشاد صوتي لحظي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2432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تعليمات قبل كل انعطاف + كشف الخروج عن المسار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65960"/>
            <a:ext cx="3611880" cy="169164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63440" y="21488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1">
                <a:solidFill>
                  <a:srgbClr val="101613"/>
                </a:solidFill>
                <a:latin typeface="Segoe UI"/>
              </a:rPr>
              <a:t>مسارات آمنة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2432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موثّقة بدرجة أمان، محفوظة وتعمل أوفلاين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965960"/>
            <a:ext cx="3611880" cy="169164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03920" y="21488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1">
                <a:solidFill>
                  <a:srgbClr val="101613"/>
                </a:solidFill>
                <a:latin typeface="Segoe UI"/>
              </a:rPr>
              <a:t>تنبيه الإشارات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2432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حالة الضوء والثواني المتبقية قبل الوصول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3611880" cy="169164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1">
                <a:solidFill>
                  <a:srgbClr val="101613"/>
                </a:solidFill>
                <a:latin typeface="Segoe UI"/>
              </a:rPr>
              <a:t>بلاغات مجتمعية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4456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وصف صوتي للعائق + مزامنة تلقائية لاحقًا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886200"/>
            <a:ext cx="3611880" cy="169164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40" y="4069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1">
                <a:solidFill>
                  <a:srgbClr val="101613"/>
                </a:solidFill>
                <a:latin typeface="Segoe UI"/>
              </a:rPr>
              <a:t>خرائط جامعات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54456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خريطة متجهية + دليل صوتي لكل مبنى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886200"/>
            <a:ext cx="3611880" cy="169164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03920" y="4069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1">
                <a:solidFill>
                  <a:srgbClr val="101613"/>
                </a:solidFill>
                <a:latin typeface="Segoe UI"/>
              </a:rPr>
              <a:t>زر استغاثة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544568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عدّ تنازلي قابل للإلغاء + إرسال الموقع برسالة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>
                <a:solidFill>
                  <a:srgbClr val="0B6B3A"/>
                </a:solidFill>
                <a:latin typeface="Segoe UI"/>
              </a:rPr>
              <a:t>وكل ذلك في تطبيق واحد، بحجم أقل من 25 ميجابايت، ويعمل على أندرويد 6+.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من الموقع إلى تعليمة مفهومة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كيف يعمل الإرشاد؟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037015" y="2103120"/>
            <a:ext cx="2514600" cy="1463040"/>
          </a:xfrm>
          <a:prstGeom prst="roundRect">
            <a:avLst>
              <a:gd name="adj" fmla="val 12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74175" y="224028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GPS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4175" y="269748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تحديث كل 2 متر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2967" y="26974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>
                <a:solidFill>
                  <a:srgbClr val="5B6B63"/>
                </a:solidFill>
                <a:latin typeface="Segoe UI"/>
              </a:rPr>
              <a:t>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6655" y="2103120"/>
            <a:ext cx="2514600" cy="1463040"/>
          </a:xfrm>
          <a:prstGeom prst="roundRect">
            <a:avLst>
              <a:gd name="adj" fmla="val 12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93815" y="224028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محرك الإرشاد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3815" y="269748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إسقاط على المسار + المسافة المتبقية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2607" y="26974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>
                <a:solidFill>
                  <a:srgbClr val="5B6B63"/>
                </a:solidFill>
                <a:latin typeface="Segoe UI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6295" y="2103120"/>
            <a:ext cx="2514600" cy="1463040"/>
          </a:xfrm>
          <a:prstGeom prst="roundRect">
            <a:avLst>
              <a:gd name="adj" fmla="val 12000"/>
            </a:avLst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13455" y="224028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الصوت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3455" y="269748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«امشِ ٤٠ مترًا ثم انعطف يمينًا»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2247" y="26974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>
                <a:solidFill>
                  <a:srgbClr val="5B6B63"/>
                </a:solidFill>
                <a:latin typeface="Segoe UI"/>
              </a:rPr>
              <a:t>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5935" y="2103120"/>
            <a:ext cx="2514600" cy="1463040"/>
          </a:xfrm>
          <a:prstGeom prst="roundRect">
            <a:avLst>
              <a:gd name="adj" fmla="val 12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3095" y="224028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الاهتزاز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" y="269748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نمط مختلف لليمين واليسار والخطر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77639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>
                <a:solidFill>
                  <a:srgbClr val="101613"/>
                </a:solidFill>
                <a:latin typeface="Segoe UI"/>
              </a:rPr>
              <a:t>تنبيهات متدرّجة على المسافة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59975" y="4526280"/>
            <a:ext cx="1691640" cy="685800"/>
          </a:xfrm>
          <a:prstGeom prst="roundRect">
            <a:avLst>
              <a:gd name="adj" fmla="val 20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59975" y="46817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150 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9463" y="4526280"/>
            <a:ext cx="1691640" cy="685800"/>
          </a:xfrm>
          <a:prstGeom prst="roundRect">
            <a:avLst>
              <a:gd name="adj" fmla="val 20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9463" y="46817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80 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8951" y="4526280"/>
            <a:ext cx="1691640" cy="685800"/>
          </a:xfrm>
          <a:prstGeom prst="roundRect">
            <a:avLst>
              <a:gd name="adj" fmla="val 20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38951" y="46817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40 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8439" y="4526280"/>
            <a:ext cx="1691640" cy="685800"/>
          </a:xfrm>
          <a:prstGeom prst="roundRect">
            <a:avLst>
              <a:gd name="adj" fmla="val 20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28439" y="46817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20 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17927" y="4526280"/>
            <a:ext cx="1691640" cy="685800"/>
          </a:xfrm>
          <a:prstGeom prst="roundRect">
            <a:avLst>
              <a:gd name="adj" fmla="val 20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7927" y="46817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10 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7415" y="4526280"/>
            <a:ext cx="1691640" cy="685800"/>
          </a:xfrm>
          <a:prstGeom prst="roundRect">
            <a:avLst>
              <a:gd name="adj" fmla="val 2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7415" y="46817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وصول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5321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00" b="0">
                <a:solidFill>
                  <a:srgbClr val="5B6B63"/>
                </a:solidFill>
                <a:latin typeface="Segoe UI"/>
              </a:rPr>
              <a:t>لا يُنطق الإرشاد مرتين لنفس الحالة، والتنبيه العاجل فقط يقطع الطابور.</a:t>
            </a:r>
          </a:p>
          <a:p>
            <a:pPr algn="r" rtl="1">
              <a:lnSpc>
                <a:spcPct val="140000"/>
              </a:lnSpc>
            </a:pPr>
            <a:r>
              <a:rPr sz="1500" b="0">
                <a:solidFill>
                  <a:srgbClr val="5B6B63"/>
                </a:solidFill>
                <a:latin typeface="Segoe UI"/>
              </a:rPr>
              <a:t>وعند انقطاع GPS: «توقف في مكان آمن» ثم إعلان الاستعادة.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يعمل في الشارع كما في القاعة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الأوفلاين والخصوصية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486400" cy="356616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>
                <a:solidFill>
                  <a:srgbClr val="0B6B3A"/>
                </a:solidFill>
                <a:latin typeface="Segoe UI"/>
              </a:rPr>
              <a:t>أوفلاين كامل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9377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• كل البيانات في Hive على الجهاز</a:t>
            </a:r>
          </a:p>
          <a:p>
            <a:pPr algn="r" rtl="1">
              <a:lnSpc>
                <a:spcPct val="160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• خرائط متجهية بلا تحميل بلاطات</a:t>
            </a:r>
          </a:p>
          <a:p>
            <a:pPr algn="r" rtl="1">
              <a:lnSpc>
                <a:spcPct val="160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• البلاغات تُحفظ وتُرفع عند عودة الشبكة</a:t>
            </a:r>
          </a:p>
          <a:p>
            <a:pPr algn="r" rtl="1">
              <a:lnSpc>
                <a:spcPct val="160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• طابور مزامنة لا يفقد شيئًا</a:t>
            </a:r>
          </a:p>
          <a:p>
            <a:pPr algn="r" rtl="1">
              <a:lnSpc>
                <a:spcPct val="160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• لا ميزة أساسية تعتمد على الشبكة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65960"/>
            <a:ext cx="5120640" cy="3566160"/>
          </a:xfrm>
          <a:prstGeom prst="roundRect">
            <a:avLst>
              <a:gd name="adj" fmla="val 8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>
                <a:solidFill>
                  <a:srgbClr val="F5A524"/>
                </a:solidFill>
                <a:latin typeface="Segoe UI"/>
              </a:rPr>
              <a:t>خصوصية بالتصميم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51760"/>
            <a:ext cx="45720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• تشفير AES-256 ومفتاح في Keystore</a:t>
            </a:r>
          </a:p>
          <a:p>
            <a:pPr algn="r" rtl="1">
              <a:lnSpc>
                <a:spcPct val="160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• لا تتبع للموقع في الخلفية</a:t>
            </a:r>
          </a:p>
          <a:p>
            <a:pPr algn="r" rtl="1">
              <a:lnSpc>
                <a:spcPct val="160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• الموقع يُشارك فقط مع جهات SOS</a:t>
            </a:r>
          </a:p>
          <a:p>
            <a:pPr algn="r" rtl="1">
              <a:lnSpc>
                <a:spcPct val="160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• حذف كل البيانات من داخل التطبيق</a:t>
            </a:r>
          </a:p>
          <a:p>
            <a:pPr algn="r" rtl="1">
              <a:lnSpc>
                <a:spcPct val="160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• Firebase اختياري تمامًا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مصمّم لمن لا يرى الشاشة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الإتاحة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73152" cy="71323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743200" y="1984248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101613"/>
                </a:solidFill>
                <a:latin typeface="Segoe UI"/>
              </a:rPr>
              <a:t>TalkBack / VoiceOver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تسمية وتلميح لكل عنصر، وإعلان اسم كل شاشة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73152" cy="71323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743200" y="2761488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101613"/>
                </a:solidFill>
                <a:latin typeface="Segoe UI"/>
              </a:rPr>
              <a:t>أهداف لمس كبيرة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9067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88dp للأزرار الرئيسية، 56dp للثانوية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0440"/>
            <a:ext cx="73152" cy="71323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3200" y="3538728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101613"/>
                </a:solidFill>
                <a:latin typeface="Segoe UI"/>
              </a:rPr>
              <a:t>تباين عالٍ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6791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وضع أصفر على أسود + تباين ≥ 4.5:1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97680"/>
            <a:ext cx="73152" cy="71323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743200" y="4315968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101613"/>
                </a:solidFill>
                <a:latin typeface="Segoe UI"/>
              </a:rPr>
              <a:t>بديل لمسي دائم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4515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كل أمر صوتي له زر مقابل — لا اعتماد على الصوت وحده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74920"/>
            <a:ext cx="73152" cy="71323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743200" y="5093208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>
                <a:solidFill>
                  <a:srgbClr val="101613"/>
                </a:solidFill>
                <a:latin typeface="Segoe UI"/>
              </a:rPr>
              <a:t>قراءة عند التحديد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2239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خيار يقرأ العنصر عند وصول التركيز إليه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0B6B3A"/>
                </a:solidFill>
                <a:latin typeface="Segoe UI"/>
              </a:rPr>
              <a:t>تدقيق WCAG 2.1 AA موثّق في docs/ACCESSIBILITY_AUDIT.md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طبقات واضحة ومنطق قابل للاختبار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المعمارية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778240" y="2212848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الشاشات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7680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10 شاشات + مكوّنات إتاحة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35808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0" y="3236976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الحالة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7680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AppState — منسّق مركزي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59936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78240" y="4261104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الخدمات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15968"/>
            <a:ext cx="7680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صوت · موقع · إرشاد · بلاغات · SOS · مزامنة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84064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778240" y="5285232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التخزين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40096"/>
            <a:ext cx="7680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Hive مشفّر + Firestore اختياري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محرك الإرشاد والأوامر الصوتية والجغرافيا دوال نقية — مغطاة بـ 61 اختبارًا.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مفتوحة المصدر بالكامل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التقنيات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651760" cy="566928"/>
          </a:xfrm>
          <a:prstGeom prst="roundRect">
            <a:avLst>
              <a:gd name="adj" fmla="val 15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213055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الواجهة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21408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Flutter 3.27+ · Material 3 · RTL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15184"/>
            <a:ext cx="10881360" cy="9144"/>
          </a:xfrm>
          <a:prstGeom prst="rect">
            <a:avLst/>
          </a:prstGeom>
          <a:solidFill>
            <a:srgbClr val="D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2670048"/>
            <a:ext cx="2651760" cy="566928"/>
          </a:xfrm>
          <a:prstGeom prst="roundRect">
            <a:avLst>
              <a:gd name="adj" fmla="val 15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الصوت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79776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flutter_tts (ar-EG) · speech_to_text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73552"/>
            <a:ext cx="10881360" cy="9144"/>
          </a:xfrm>
          <a:prstGeom prst="rect">
            <a:avLst/>
          </a:prstGeom>
          <a:solidFill>
            <a:srgbClr val="D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40080" y="3328416"/>
            <a:ext cx="2651760" cy="566928"/>
          </a:xfrm>
          <a:prstGeom prst="roundRect">
            <a:avLst>
              <a:gd name="adj" fmla="val 15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344728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الموقع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438144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geolocator + محرك إرشاد مخصص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10881360" cy="9144"/>
          </a:xfrm>
          <a:prstGeom prst="rect">
            <a:avLst/>
          </a:prstGeom>
          <a:solidFill>
            <a:srgbClr val="D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40080" y="3986784"/>
            <a:ext cx="2651760" cy="566928"/>
          </a:xfrm>
          <a:prstGeom prst="roundRect">
            <a:avLst>
              <a:gd name="adj" fmla="val 15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410565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الخرائط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096512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CustomPainter (أوفلاين) + flutter_map/OSM اختياري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90288"/>
            <a:ext cx="10881360" cy="9144"/>
          </a:xfrm>
          <a:prstGeom prst="rect">
            <a:avLst/>
          </a:prstGeom>
          <a:solidFill>
            <a:srgbClr val="D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40080" y="4645152"/>
            <a:ext cx="2651760" cy="566928"/>
          </a:xfrm>
          <a:prstGeom prst="roundRect">
            <a:avLst>
              <a:gd name="adj" fmla="val 15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" y="476402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التخزين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75488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hive مشفّر + flutter_secure_storage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248656"/>
            <a:ext cx="10881360" cy="9144"/>
          </a:xfrm>
          <a:prstGeom prst="rect">
            <a:avLst/>
          </a:prstGeom>
          <a:solidFill>
            <a:srgbClr val="D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40080" y="5303520"/>
            <a:ext cx="2651760" cy="566928"/>
          </a:xfrm>
          <a:prstGeom prst="roundRect">
            <a:avLst>
              <a:gd name="adj" fmla="val 15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542239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السحابة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413248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Firebase Auth / Firestore / FCM — اختياري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907024"/>
            <a:ext cx="10881360" cy="9144"/>
          </a:xfrm>
          <a:prstGeom prst="rect">
            <a:avLst/>
          </a:prstGeom>
          <a:solidFill>
            <a:srgbClr val="D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من v1.0 إلى المنظومة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خريطة الطريق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103120" cy="685800"/>
          </a:xfrm>
          <a:prstGeom prst="roundRect">
            <a:avLst>
              <a:gd name="adj" fmla="val 20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2185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v1.0 — الآن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7627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الميزات الأساسية، أوفلاين كامل، 61 اختبارًا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2103120" cy="685800"/>
          </a:xfrm>
          <a:prstGeom prst="roundRect">
            <a:avLst>
              <a:gd name="adj" fmla="val 20000"/>
            </a:avLst>
          </a:prstGeom>
          <a:solidFill>
            <a:srgbClr val="147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00837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v1.1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99923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التحقق المجتمعي · اهتزاز دلالي · مراقبة GPS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2103120" cy="685800"/>
          </a:xfrm>
          <a:prstGeom prst="roundRect">
            <a:avLst>
              <a:gd name="adj" fmla="val 20000"/>
            </a:avLst>
          </a:prstGeom>
          <a:solidFill>
            <a:srgbClr val="1E8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383133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v1.2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82219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Bluetooth Beacons لدقة داخل المباني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80560"/>
            <a:ext cx="2103120" cy="685800"/>
          </a:xfrm>
          <a:prstGeom prst="roundRect">
            <a:avLst>
              <a:gd name="adj" fmla="val 20000"/>
            </a:avLst>
          </a:prstGeom>
          <a:solidFill>
            <a:srgbClr val="2AA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" y="465429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v1.3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64515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توصيف الصور وكشف الإشارات بالكاميرا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03520"/>
            <a:ext cx="2103120" cy="685800"/>
          </a:xfrm>
          <a:prstGeom prst="roundRect">
            <a:avLst>
              <a:gd name="adj" fmla="val 20000"/>
            </a:avLst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547725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v2.0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46811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>
                <a:solidFill>
                  <a:srgbClr val="101613"/>
                </a:solidFill>
                <a:latin typeface="Segoe UI"/>
              </a:rPr>
              <a:t>ساعة ذكية · تكامل حكومي · لغات إضافية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لماذا يهم؟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الأثر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20440" cy="146304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>
                <a:solidFill>
                  <a:srgbClr val="0B6B3A"/>
                </a:solidFill>
                <a:latin typeface="Segoe UI"/>
              </a:rPr>
              <a:t>استقلالية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طالب يذهب لمحاضرته دون مرافق دائم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520440" cy="146304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>
                <a:solidFill>
                  <a:srgbClr val="0B6B3A"/>
                </a:solidFill>
                <a:latin typeface="Segoe UI"/>
              </a:rPr>
              <a:t>سلامة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تنبيه قبل الإشارة والعائق، لا بعدهما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520440" cy="146304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200" b="1">
                <a:solidFill>
                  <a:srgbClr val="0B6B3A"/>
                </a:solidFill>
                <a:latin typeface="Segoe UI"/>
              </a:rPr>
              <a:t>شمول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9748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مجاني، يعمل على أجهزة قديمة، وبدون إنترنت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39"/>
            <a:ext cx="1691640" cy="640080"/>
          </a:xfrm>
          <a:prstGeom prst="roundRect">
            <a:avLst>
              <a:gd name="adj" fmla="val 20000"/>
            </a:avLst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SDG 3 الصحة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0592" y="3977639"/>
            <a:ext cx="1691640" cy="640080"/>
          </a:xfrm>
          <a:prstGeom prst="roundRect">
            <a:avLst>
              <a:gd name="adj" fmla="val 20000"/>
            </a:avLst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450592" y="41148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SDG 4 التعليم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1104" y="3977639"/>
            <a:ext cx="1691640" cy="640080"/>
          </a:xfrm>
          <a:prstGeom prst="roundRect">
            <a:avLst>
              <a:gd name="adj" fmla="val 20000"/>
            </a:avLst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61104" y="41148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SDG 9 الابتكار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71616" y="3977639"/>
            <a:ext cx="1691640" cy="640080"/>
          </a:xfrm>
          <a:prstGeom prst="roundRect">
            <a:avLst>
              <a:gd name="adj" fmla="val 20000"/>
            </a:avLst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071616" y="41148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SDG 10 المساواة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82128" y="3977639"/>
            <a:ext cx="1691640" cy="640080"/>
          </a:xfrm>
          <a:prstGeom prst="roundRect">
            <a:avLst>
              <a:gd name="adj" fmla="val 20000"/>
            </a:avLst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82128" y="41148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SDG 11 مدن مستدامة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3977639"/>
            <a:ext cx="1691640" cy="640080"/>
          </a:xfrm>
          <a:prstGeom prst="roundRect">
            <a:avLst>
              <a:gd name="adj" fmla="val 20000"/>
            </a:avLst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92640" y="411480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SDG 17 الشراكات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500" b="0">
                <a:solidFill>
                  <a:srgbClr val="5B6B63"/>
                </a:solidFill>
                <a:latin typeface="Segoe UI"/>
              </a:rPr>
              <a:t>المؤشرات المستهدفة: ≥ 90% إكمال الرحلة دون مساعدة · رضا ≥ 4.2/5 · صفر حوادث.</a:t>
            </a:r>
          </a:p>
          <a:p>
            <a:pPr algn="r" rtl="1">
              <a:lnSpc>
                <a:spcPct val="150000"/>
              </a:lnSpc>
            </a:pPr>
            <a:r>
              <a:rPr sz="1500" b="0">
                <a:solidFill>
                  <a:srgbClr val="5B6B63"/>
                </a:solidFill>
                <a:latin typeface="Segoe UI"/>
              </a:rPr>
              <a:t>ما لا ندّعيه: التطبيق أداة مساعدة، وليس بديلًا عن العصا البيضاء أو المرافق.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جرّبها بنفسك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200" b="0">
                <a:solidFill>
                  <a:srgbClr val="D8EFE3"/>
                </a:solidFill>
                <a:latin typeface="Segoe UI"/>
              </a:rPr>
              <a:t>أغمض عينيك، واضغط زر الاستغاثة مرتين، ثم اسمع.</a:t>
            </a:r>
          </a:p>
          <a:p>
            <a:pPr algn="r" rtl="1">
              <a:lnSpc>
                <a:spcPct val="150000"/>
              </a:lnSpc>
            </a:pPr>
            <a:r>
              <a:rPr sz="2200" b="0">
                <a:solidFill>
                  <a:srgbClr val="D8EFE3"/>
                </a:solidFill>
                <a:latin typeface="Segoe UI"/>
              </a:rPr>
              <a:t>هذه هي التجربة التي نقدّمها — لا شرائح، بل استقلالية.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>
                <a:solidFill>
                  <a:srgbClr val="F5A524"/>
                </a:solidFill>
                <a:latin typeface="Segoe UI"/>
              </a:rPr>
              <a:t>github.com/mo3bdo23/basira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600" b="0">
                <a:solidFill>
                  <a:srgbClr val="A5C9B4"/>
                </a:solidFill>
                <a:latin typeface="Segoe UI"/>
              </a:rPr>
              <a:t>الكود مفتوح · يعمل بدون إنترنت · يدعم TalkBack و VoiceOver</a:t>
            </a:r>
          </a:p>
          <a:p>
            <a:pPr algn="r" rtl="1">
              <a:lnSpc>
                <a:spcPct val="140000"/>
              </a:lnSpc>
            </a:pPr>
            <a:r>
              <a:rPr sz="1600" b="0">
                <a:solidFill>
                  <a:srgbClr val="A5C9B4"/>
                </a:solidFill>
                <a:latin typeface="Segoe UI"/>
              </a:rPr>
              <a:t>MIT License © 2026 Basira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لقطة حقيقية من النسخة المنشورة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التطبيق كما هو الآن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0" y="1874519"/>
            <a:ext cx="3749039" cy="4617720"/>
          </a:xfrm>
          <a:prstGeom prst="roundRect">
            <a:avLst>
              <a:gd name="adj" fmla="val 6000"/>
            </a:avLst>
          </a:prstGeom>
          <a:solidFill>
            <a:srgbClr val="064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011680"/>
            <a:ext cx="3474720" cy="265879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1965960"/>
            <a:ext cx="73152" cy="86868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9659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900" b="1">
                <a:solidFill>
                  <a:srgbClr val="101613"/>
                </a:solidFill>
                <a:latin typeface="Segoe UI"/>
              </a:rPr>
              <a:t>زر واحد كبير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0008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«ابدأ المشي» — لا قوائم ولا خطوات وسيطة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73152" cy="86868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30175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900" b="1">
                <a:solidFill>
                  <a:srgbClr val="101613"/>
                </a:solidFill>
                <a:latin typeface="Segoe UI"/>
              </a:rPr>
              <a:t>حالة مسموعة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01568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اضغط سطر الحالة ليُقرأ لك: الموقع، الاتصال، البلاغات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69080"/>
            <a:ext cx="73152" cy="86868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40690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900" b="1">
                <a:solidFill>
                  <a:srgbClr val="101613"/>
                </a:solidFill>
                <a:latin typeface="Segoe UI"/>
              </a:rPr>
              <a:t>استغاثة واضحة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53128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أحمر، ثابت أسفل الشاشة، لا يختفي بالتمرير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120640"/>
            <a:ext cx="73152" cy="86868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51206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900" b="1">
                <a:solidFill>
                  <a:srgbClr val="101613"/>
                </a:solidFill>
                <a:latin typeface="Segoe UI"/>
              </a:rPr>
              <a:t>أوفلاين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04688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00" b="0">
                <a:solidFill>
                  <a:srgbClr val="5B6B63"/>
                </a:solidFill>
                <a:latin typeface="Segoe UI"/>
              </a:rPr>
              <a:t>٤ بلاغات معلّقة تنتظر الشبكة — والتنقل يستمر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300" b="1">
                <a:solidFill>
                  <a:srgbClr val="0B6B3A"/>
                </a:solidFill>
                <a:latin typeface="Segoe UI"/>
              </a:rPr>
              <a:t>التصميم داكن عالي التباين افتراضيًا — أريح للعين وللحالات المختلطة.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٣ دقائق أمام اللجنة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سيناريو العرض الحيّ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52760" y="202996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0000"/>
              </a:lnSpc>
            </a:pPr>
            <a:r>
              <a:rPr sz="1300" b="1">
                <a:solidFill>
                  <a:srgbClr val="0B6B3A"/>
                </a:solidFill>
                <a:latin typeface="Segoe UI"/>
              </a:rPr>
              <a:t>٠:٠٠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2029968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00" b="1">
                <a:solidFill>
                  <a:srgbClr val="101613"/>
                </a:solidFill>
                <a:latin typeface="Segoe UI"/>
              </a:rPr>
              <a:t>أغمضوا أعينكم ٣٠ ثانية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3774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200" b="0">
                <a:solidFill>
                  <a:srgbClr val="5B6B63"/>
                </a:solidFill>
                <a:latin typeface="Segoe UI"/>
              </a:rPr>
              <a:t>الإحساس بالمشكلة قبل أي شريحة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2024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02996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0000"/>
              </a:lnSpc>
            </a:pPr>
            <a:r>
              <a:rPr sz="1300" b="1">
                <a:solidFill>
                  <a:srgbClr val="0B6B3A"/>
                </a:solidFill>
                <a:latin typeface="Segoe UI"/>
              </a:rPr>
              <a:t>٠:٣٠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00" b="1">
                <a:solidFill>
                  <a:srgbClr val="101613"/>
                </a:solidFill>
                <a:latin typeface="Segoe UI"/>
              </a:rPr>
              <a:t>افتح بصيرة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3774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200" b="0">
                <a:solidFill>
                  <a:srgbClr val="5B6B63"/>
                </a:solidFill>
                <a:latin typeface="Segoe UI"/>
              </a:rPr>
              <a:t>«طريقك الآمن بصوتك» — ثم إخلاء المسؤولية بثلاث نقاط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99232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52760" y="310896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0000"/>
              </a:lnSpc>
            </a:pPr>
            <a:r>
              <a:rPr sz="1300" b="1">
                <a:solidFill>
                  <a:srgbClr val="0B6B3A"/>
                </a:solidFill>
                <a:latin typeface="Segoe UI"/>
              </a:rPr>
              <a:t>٠:٥٠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10896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00" b="1">
                <a:solidFill>
                  <a:srgbClr val="101613"/>
                </a:solidFill>
                <a:latin typeface="Segoe UI"/>
              </a:rPr>
              <a:t>«أين أنا؟»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4564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200" b="0">
                <a:solidFill>
                  <a:srgbClr val="5B6B63"/>
                </a:solidFill>
                <a:latin typeface="Segoe UI"/>
              </a:rPr>
              <a:t>وصف الموقع وأقرب مبنى وإشارة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99232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310896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0000"/>
              </a:lnSpc>
            </a:pPr>
            <a:r>
              <a:rPr sz="1300" b="1">
                <a:solidFill>
                  <a:srgbClr val="0B6B3A"/>
                </a:solidFill>
                <a:latin typeface="Segoe UI"/>
              </a:rPr>
              <a:t>١:١٠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10896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00" b="1">
                <a:solidFill>
                  <a:srgbClr val="101613"/>
                </a:solidFill>
                <a:latin typeface="Segoe UI"/>
              </a:rPr>
              <a:t>«ابدأ المشي»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4564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200" b="0">
                <a:solidFill>
                  <a:srgbClr val="5B6B63"/>
                </a:solidFill>
                <a:latin typeface="Segoe UI"/>
              </a:rPr>
              <a:t>إرشاد حقيقي + اهتزاز يمين/يسار — امشِ أمامهم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078224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52760" y="4187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0000"/>
              </a:lnSpc>
            </a:pPr>
            <a:r>
              <a:rPr sz="1300" b="1">
                <a:solidFill>
                  <a:srgbClr val="0B6B3A"/>
                </a:solidFill>
                <a:latin typeface="Segoe UI"/>
              </a:rPr>
              <a:t>١:٤٠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187952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00" b="1">
                <a:solidFill>
                  <a:srgbClr val="101613"/>
                </a:solidFill>
                <a:latin typeface="Segoe UI"/>
              </a:rPr>
              <a:t>أطفئ الواي فاي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5354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200" b="0">
                <a:solidFill>
                  <a:srgbClr val="5B6B63"/>
                </a:solidFill>
                <a:latin typeface="Segoe UI"/>
              </a:rPr>
              <a:t>التطبيق يستمر — «أوفلاين»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78224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187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0000"/>
              </a:lnSpc>
            </a:pPr>
            <a:r>
              <a:rPr sz="1300" b="1">
                <a:solidFill>
                  <a:srgbClr val="0B6B3A"/>
                </a:solidFill>
                <a:latin typeface="Segoe UI"/>
              </a:rPr>
              <a:t>٢:٠٠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187952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00" b="1">
                <a:solidFill>
                  <a:srgbClr val="101613"/>
                </a:solidFill>
                <a:latin typeface="Segoe UI"/>
              </a:rPr>
              <a:t>بلّغ عن عائق بصوتك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5354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200" b="0">
                <a:solidFill>
                  <a:srgbClr val="5B6B63"/>
                </a:solidFill>
                <a:latin typeface="Segoe UI"/>
              </a:rPr>
              <a:t>يُحفظ محليًا ويُرفع لاحقًا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157216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52760" y="526694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0000"/>
              </a:lnSpc>
            </a:pPr>
            <a:r>
              <a:rPr sz="1300" b="1">
                <a:solidFill>
                  <a:srgbClr val="0B6B3A"/>
                </a:solidFill>
                <a:latin typeface="Segoe UI"/>
              </a:rPr>
              <a:t>٢:٢٠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5266944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00" b="1">
                <a:solidFill>
                  <a:srgbClr val="101613"/>
                </a:solidFill>
                <a:latin typeface="Segoe UI"/>
              </a:rPr>
              <a:t>زر الاستغاثة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61441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200" b="0">
                <a:solidFill>
                  <a:srgbClr val="5B6B63"/>
                </a:solidFill>
                <a:latin typeface="Segoe UI"/>
              </a:rPr>
              <a:t>عدّ تنازلي ثم إلغاء بنقرة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157216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F4F7F5"/>
          </a:solidFill>
          <a:ln w="12700">
            <a:solidFill>
              <a:srgbClr val="D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526694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0000"/>
              </a:lnSpc>
            </a:pPr>
            <a:r>
              <a:rPr sz="1300" b="1">
                <a:solidFill>
                  <a:srgbClr val="0B6B3A"/>
                </a:solidFill>
                <a:latin typeface="Segoe UI"/>
              </a:rPr>
              <a:t>٢:٤٠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266944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00" b="1">
                <a:solidFill>
                  <a:srgbClr val="101613"/>
                </a:solidFill>
                <a:latin typeface="Segoe UI"/>
              </a:rPr>
              <a:t>الخاتمة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61441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200" b="0">
                <a:solidFill>
                  <a:srgbClr val="5B6B63"/>
                </a:solidFill>
                <a:latin typeface="Segoe UI"/>
              </a:rPr>
              <a:t>استقلالية، لا شرائح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00" b="1">
                <a:solidFill>
                  <a:srgbClr val="F5A524"/>
                </a:solidFill>
                <a:latin typeface="Segoe UI"/>
              </a:rPr>
              <a:t>الابتكار · الأثر · التنفيذ · الاستدامة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3400" b="1">
                <a:solidFill>
                  <a:srgbClr val="101613"/>
                </a:solidFill>
                <a:latin typeface="Segoe UI"/>
              </a:rPr>
              <a:t>لماذا يفوز هذا المشروع؟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8575" y="1600200"/>
            <a:ext cx="1463040" cy="5486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194560" cy="868680"/>
          </a:xfrm>
          <a:prstGeom prst="roundRect">
            <a:avLst>
              <a:gd name="adj" fmla="val 18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85416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الابتكار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075688"/>
            <a:ext cx="8412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101613"/>
                </a:solidFill>
                <a:latin typeface="Segoe UI"/>
              </a:rPr>
              <a:t>أول تطبيق عربي صوتي أولًا يجمع: إرشاد + إشارات + بلاغات + SOS + أوفلاين في منتج واحد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2194560" cy="868680"/>
          </a:xfrm>
          <a:prstGeom prst="roundRect">
            <a:avLst>
              <a:gd name="adj" fmla="val 18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الأثر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218688"/>
            <a:ext cx="8412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101613"/>
                </a:solidFill>
                <a:latin typeface="Segoe UI"/>
              </a:rPr>
              <a:t>يستهدف فئة مهمّشة بمشكلة موثّقة، وحل مبني على مقابلات لا على تخمين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0"/>
            <a:ext cx="2194560" cy="868680"/>
          </a:xfrm>
          <a:prstGeom prst="roundRect">
            <a:avLst>
              <a:gd name="adj" fmla="val 18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71416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التنفيذ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361688"/>
            <a:ext cx="8412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101613"/>
                </a:solidFill>
                <a:latin typeface="Segoe UI"/>
              </a:rPr>
              <a:t>53 ملف Dart · 61 اختبارًا ناجحًا · تحليل بلا أخطاء · يعمل الآن على الويب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94960"/>
            <a:ext cx="2194560" cy="868680"/>
          </a:xfrm>
          <a:prstGeom prst="roundRect">
            <a:avLst>
              <a:gd name="adj" fmla="val 18000"/>
            </a:avLst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614416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الاستدامة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5504688"/>
            <a:ext cx="8412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101613"/>
                </a:solidFill>
                <a:latin typeface="Segoe UI"/>
              </a:rPr>
              <a:t>مفتوح المصدر · بلا تكاليف تشغيل · قابل للتوسّع لـ Beacons والذكاء الاصطناعي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300" b="1">
                <a:solidFill>
                  <a:srgbClr val="0B6B3A"/>
                </a:solidFill>
                <a:latin typeface="Segoe UI"/>
              </a:rPr>
              <a:t>كل رقم مذكور قابل للتحقق من المستودع مباشرة أمام اللجنة.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بصيرة — تطبيق تنقّل صوتي لذوي الإعاقة البصرية</dc:title>
  <dc:subject>Voice-first navigation for blind and low-vision users</dc:subject>
  <dc:creator>Basira</dc:creator>
  <cp:keywords>accessibility, flutter, navigation, offline, sos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ar</dc:language>
</cp:coreProperties>
</file>